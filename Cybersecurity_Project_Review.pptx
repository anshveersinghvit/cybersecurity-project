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E6FF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1A-4F44-8558-20BD1AF42371}"/>
              </c:ext>
            </c:extLst>
          </c:dPt>
          <c:dPt>
            <c:idx val="1"/>
            <c:invertIfNegative val="0"/>
            <c:bubble3D val="0"/>
            <c:spPr>
              <a:solidFill>
                <a:srgbClr val="E059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1A-4F44-8558-20BD1AF42371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4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In-dataset
(2017→2017)</c:v>
                </c:pt>
                <c:pt idx="1">
                  <c:v>Cross-dataset
(2017→2018)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0.99709999999999999</c:v>
                </c:pt>
                <c:pt idx="1">
                  <c:v>2.3E-3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1A-4F44-8558-20BD1AF42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15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5486400" cy="8686800"/>
          </a:xfrm>
          <a:prstGeom prst="rect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3291840" cy="329184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508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— II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03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Malicious Network Traffic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Flow-Based Metadata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1605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verified, reproducible cross-dataset generalization study for encrypted-traffic malware detection — evaluated against real-world domain shift and evasion, not just single-dataset benchmarks.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5212080"/>
            <a:ext cx="6035040" cy="0"/>
          </a:xfrm>
          <a:prstGeom prst="line">
            <a:avLst/>
          </a:prstGeom>
          <a:noFill/>
          <a:ln w="12700">
            <a:solidFill>
              <a:srgbClr val="2A45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02920" y="5394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Bakshi   23BCE0546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Anshveer Singh   23BCE0703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Acharya Menon   23BCE0717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5394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 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traffic hides malware from traditional inspection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90% of malware now arrives over HTTPS-encrypted connections. Decrypting it to inspect payloads breaks confidentiality, adds latency, and raises legal exposure. This project's goal: detect malicious behavior from what remains observable without decryption — flow statistics, timing, and handshake metadata — and verify that the detector actually generalizes beyond the network it was trained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blurRad="101600" dist="38100" dir="5400000" algn="bl" rotWithShape="0">
              <a:srgbClr val="1B2A44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718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packet inspection fails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interception breaks end-to-end confidentiality, adds latency, and raises legal and privacy concerns most SOCs can't accept.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blurRad="101600" dist="38100" dir="5400000" algn="bl" rotWithShape="0">
              <a:srgbClr val="1B2A44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99432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971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is in the metadata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timing, size distributions, and TLS handshake metadata alone carry a detectable signal — no need to decrypt a single packet.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blurRad="101600" dist="38100" dir="5400000" algn="bl" rotWithShape="0">
              <a:srgbClr val="1B2A44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03336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9718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3336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SOC teams actually need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03336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 proven to hold up on traffic it wasn't trained on — not just a high score on one lab dataset.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TERMINOLOGY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definitions used throughout this work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533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term below is used consistently, in this exact sense, in every subsequent slide and in the underlying implementation.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376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22376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Traffic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flow whose CICFlowMeter statistical signature matches a ground-truth-labeled attack category (DoS, DDoS, Brute Force, Botnet, Infiltration, Port Scan, Web Attack) as defined by the dataset's controlled attack-generation protocol — distinguished from Benign traffic, which is normal user/application behavior.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88536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07992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07992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46904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packets sharing the same 5-tuple (src/dst IP, src/dst port, protocol) within a bounded timeout window, aggregated by CICFlowMeter into ~80 statistical features. This project never inspects payload — only these aggregate statistics.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74152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93608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93608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Traffic Classification (ETC)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flows by behavior or threat category using only observable metadata (timing, size, TLS handshake fields) — never decrypting or inspecting payload content.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2376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2237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Shift / Generalization Gap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drop when a model trained on one data distribution (capture environment, testbed, tool version) is evaluated on a distributionally different one — the central phenomenon this project measures.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88536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07992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50799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46904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Evaluation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exclusively on one dataset (CICIDS2017) and evaluating, with zero retraining or fine-tuning, on a second, independently captured dataset (CICIDS2018).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74152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93608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29360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perturbation of a flow's observable features (e.g., packet padding, timing jitter) designed to move a malicious flow's feature vector across the model's decision boundary into a benign classification.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papers spanning foundational work, dataset critique &amp; 2024–26 SOTA</a:t>
            </a:r>
            <a:endParaRPr lang="en-US" sz="2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02716"/>
              </p:ext>
            </p:extLst>
          </p:nvPr>
        </p:nvGraphicFramePr>
        <p:xfrm>
          <a:off x="502920" y="1481328"/>
          <a:ext cx="11183112" cy="4498848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/ Venue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this project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Sharafaldin, Lashkari &amp; Ghorbani — CICIDS2017 Dataset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2018, ICISSP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traffic generation + CICFlowMeter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of the primary training dataset used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Anderson &amp; McGrew — Noisy Labels &amp; Non-Stationarity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2017, ACM SIGKDD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Flow-level features (size, timing, TLS) with noisy-label handling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paper — single-dataset, full-flow only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Anderson &amp; McGrew — Contextual Flow Data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2016, ACM AISec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Supervised ML on TLS handshake + DNS/HTTP context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Establishes metadata-only detection is viable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Engelen, Rimmer &amp; Joosen — Troubleshooting CICIDS2017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2021, IEEE SPW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Audits CICIDS2017 labeling &amp; flow-construction correctness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for our dedup &amp; leakage-control methodology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Cantone, Marrocco &amp; Bria — Cross-Dataset Generalization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2024, IEEE Access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classifiers x 4 datasets, zero-shot cross-dataset transfer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corroborates our collapse finding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Maseer et al. — Benchmarking Anomaly-Based IDS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2021, IEEE Access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k-NN, 99.49% on CICIDS2017, transparent methodology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Reproduction / verification target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Shen et al. </a:t>
                      </a:r>
                      <a:r>
                        <a:rPr lang="en-US" sz="860" kern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</a:t>
                      </a:r>
                      <a:r>
                        <a:rPr lang="en-IN" sz="860" kern="1200" dirty="0">
                          <a:solidFill>
                            <a:srgbClr val="14213D"/>
                          </a:solidFill>
                          <a:latin typeface="Arial" pitchFamily="34" charset="0"/>
                          <a:cs typeface="Arial" pitchFamily="34" charset="-120"/>
                        </a:rPr>
                        <a:t>Robust Detection of Malicious Encrypted Traffic via Contrastive Learning</a:t>
                      </a:r>
                      <a:endParaRPr lang="en-US" sz="860" kern="1200" dirty="0">
                        <a:solidFill>
                          <a:srgbClr val="14213D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2025, IEEE TIFS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Contrastive learning to reduce labelled-data reliance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cross-dataset or evasion evaluation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BiasSeeker — Shortcut Detection in Encrypted Traffic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2026, arXiv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Model-agnostic shortcut / leakage-identifier detection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 related work to our verification layer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ET-BERT — Pretrained Traffic Transformer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2022, WWW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Self-supervised pretraining for traffic representation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SOTA context for future-work discussion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Flow-based classifiers don't survive contact with the real world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— including the base paper — evaluates on a single dataset, assumes full flows are available, and is rarely tested against evasion. These are field-wide gaps, established across the literature surveyed above; the Objectives slide scopes exactly which ones this project addresses.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95528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/home/claude/icon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Gap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and evaluated on one dataset (e.g. CICIDS2017 alone) overfit to that network's traffic characteristics and collapse on unseen networks.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4599432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/home/claud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Fragility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Timing- and size-based classifiers can be defeated cheaply by attackers using packet padding or artificial jitter — most models are never tested against this.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10728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8403336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pic>
        <p:nvPicPr>
          <p:cNvPr id="17" name="Image 2" descr="/home/claud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3928" y="2697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3336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b="1" dirty="0">
                <a:solidFill>
                  <a:schemeClr val="bg2"/>
                </a:solidFill>
              </a:rPr>
              <a:t>Reliability of Reported Performance</a:t>
            </a:r>
            <a:endParaRPr lang="en-US" sz="1500" b="1" dirty="0">
              <a:solidFill>
                <a:schemeClr val="bg2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403336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artifacts such as duplicate records, feature mismatches, label inconsistencies, and topology leakage may artificially inflate reported performance..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deliver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generalization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CICIDS2017, evaluate zero-shot on CICIDS2018 to quantify the real accuracy drop, using dataset-invariant behavioural features (no IPs, ports, or topology).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81144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81144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Evasion-robustness testing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packet-padding and timing-jitter evasion attacks against the trained detector and measure the resulting detection degradation.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0728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85048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85048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reproducible methodology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test and rule out common pipeline artifacts — feature-order mismatch, label-encoding mismatch, duplicate-row leakage — before trusting any result.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architecture: data to verified, trustworthy results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65960" y="155448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039112" y="155448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CICIDS2017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daily capture CSVs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891376" y="155448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964528" y="155448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CICIDS2018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capture CSVs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083564" y="224942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35000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235000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039112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Normalization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(BENIGN vs Benign)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249570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322722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rows removed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533181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06333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Alignment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ordered list, 26 features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083564" y="311810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321868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039112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Stats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936126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009278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/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906292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979444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876459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949611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846625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9919777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1083564" y="398678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2920" y="408736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40080" y="408736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965960" y="416052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12294A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2039112" y="416052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n=200, depth=20, class_weight=balanced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891376" y="416052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12294A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964528" y="416052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n=300, depth=6, lr=0.1, hist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1083564" y="485546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02920" y="4956048"/>
            <a:ext cx="11185855" cy="530352"/>
          </a:xfrm>
          <a:prstGeom prst="roundRect">
            <a:avLst>
              <a:gd name="adj" fmla="val 10345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40080" y="49560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65960" y="5029200"/>
            <a:ext cx="9722815" cy="384048"/>
          </a:xfrm>
          <a:prstGeom prst="roundRect">
            <a:avLst>
              <a:gd name="adj" fmla="val 11905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2039112" y="5029200"/>
            <a:ext cx="9576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F6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Feature-order alignment  •  ✓ Label-encoding consistency  •  ✓ Duplicate-row leakage — all three ruled out before results are trusted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1083564" y="5486400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02920" y="5586984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FF4E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40080" y="5586984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965960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2039112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In-Dataset Test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→ 2017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5249570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5322722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Test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→ 2018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8533181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8606333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Simulation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+ jitter</a:t>
            </a:r>
            <a:endParaRPr lang="en-US" sz="87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verification algorithm with explicit decision logic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classification models (Random Forest, XGBoost) are standard. The algorithm below is the verification-gated evaluation procedure built around them — formalized with the same rigor as any other CS algorithm: defined inputs, deterministic steps, and explicit branching on failure conditions.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83112" cy="4389120"/>
          </a:xfrm>
          <a:prstGeom prst="roundRect">
            <a:avLst>
              <a:gd name="adj" fmla="val 145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39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121408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 — Leakage-Aware Cross-Dataset Evaluation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633472"/>
            <a:ext cx="105978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30" b="1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D₂₀₁₇, D₂₀₁₈ (raw flow CSVs),  model class M ∈ {RandomForest, XGBoost}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b="1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F1_in, F1_cross, F1_evade, verification_report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D'₂₀₁₇ ← Clean(D₂₀₁₇);  D'₂₀₁₈ ← Clean(D₂₀₁₈)</a:t>
            </a: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label normalize, dedup ≈ 21%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← OrderedIntersect(Cols(D'₂₀₁₇), Cols(D'₂₀₁₈))</a:t>
            </a: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single canonical order, reused verbatim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← Split(D'₂₀₁₇[F], 0.7)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← Fit(M, X_train, y_train)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5:  </a:t>
            </a:r>
            <a:r>
              <a:rPr lang="en-US" sz="1130" dirty="0">
                <a:solidFill>
                  <a:srgbClr val="9BF3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 Cols(X_test) == Cols(X_train)</a:t>
            </a: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verification gate 1: feature order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6:  </a:t>
            </a:r>
            <a:r>
              <a:rPr lang="en-US" sz="1130" dirty="0">
                <a:solidFill>
                  <a:srgbClr val="9BF3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 Encoder(y_2018) == Encoder(y_train)</a:t>
            </a: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// verification gate 2: label encoding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F1_in    ← Eval(θ, X_test, y_test)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F1_cross ← Eval(θ, D'₂₀₁₈[F], y_2018)</a:t>
            </a: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// zero-shot, no retraining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X_evade  ← Perturb(D'₂₀₁₈[F], padding, jitter)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F1_evade ← Eval(θ, X_evade, y_2018)</a:t>
            </a:r>
            <a:endParaRPr lang="en-US" sz="113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 </a:t>
            </a: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 F1_in, F1_cross, F1_evade, {gate1: pass, gate2: pass}</a:t>
            </a:r>
            <a:endParaRPr lang="en-US" sz="113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— DECISION 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algorithm, visualized as explicit branching logic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4160520" cy="36576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444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— D₂₀₁₇, D₂₀₁₈, model class 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83764" y="1810512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9476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95528" y="1947672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Align</a:t>
            </a:r>
            <a:endParaRPr lang="en-US" sz="96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(dedup ~21%, label normalize, ordered 26-feature list)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683764" y="2331720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95528" y="246888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Fit(M, X_train, y_train)  —  train on D'₂₀₁₇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83764" y="285292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2990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order:</a:t>
            </a:r>
            <a:endParaRPr lang="en-US" sz="93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columns == train columns?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029200" y="3154680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029200" y="29260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94436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117336" y="2944368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feature-order bug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 before any result is trusted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83764" y="344728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2400300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2296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encoding:</a:t>
            </a:r>
            <a:endParaRPr lang="en-US" sz="93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encoder == train encoder?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029200" y="3749040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029200" y="35204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353872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117336" y="3538728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label-encoding bug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 before any result is trusted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83764" y="404164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2400300" y="4023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178808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95528" y="417880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In-Dataset (2017→2017)  &amp;  Cross-Dataset (2017→2018)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683764" y="4562856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5800" y="470001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95528" y="470001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Perturb(D₂₀₁₈, padding, jitter)  —  apply evasion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683764" y="5084064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8640" y="5221224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22960" y="52212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Pre-evasion detection</a:t>
            </a:r>
            <a:endParaRPr lang="en-US" sz="93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&gt; 0 on Malicious?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029200" y="5385816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029200" y="51572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5175504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117336" y="5175504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Evasion Inconclusive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(scoped limitation, not a result)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83764" y="5678424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2400300" y="56601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" y="5815584"/>
            <a:ext cx="4160520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868680" y="58155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Verified F1 scores + evasion result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EVASION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model sees — and how we attack 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GROUPS PER FLOW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464693"/>
              </p:ext>
            </p:extLst>
          </p:nvPr>
        </p:nvGraphicFramePr>
        <p:xfrm>
          <a:off x="502920" y="1737360"/>
          <a:ext cx="5532120" cy="20193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Length Stats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/ max / mean / std of fwd &amp; bwd packet sizes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 / IAT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duration, inter-arrival time mean &amp; std, active/idle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Counts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SYN, ACK, PSH, FIN, RST counts per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 Ratios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Fwd/bwd packet &amp; byte ratios, bytes-per-second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BY DESIGN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45152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Source/destination IP, port, timestamp, and flow duration are deliberately dropped — these are network-topology artifacts, not attack-behavior signal, and keeping them would let the model memorize the capture environment instead of learning transferable behavior.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02920" y="566928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04088" y="566928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 </a:t>
            </a:r>
            <a:r>
              <a:rPr lang="en-US" sz="980" dirty="0">
                <a:solidFill>
                  <a:srgbClr val="1F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features  •  </a:t>
            </a:r>
            <a:r>
              <a:rPr lang="en-US" sz="15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</a:t>
            </a:r>
            <a:r>
              <a:rPr lang="en-US" sz="980" dirty="0">
                <a:solidFill>
                  <a:srgbClr val="1F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features included  — verified in Pipeline Verification (next section)</a:t>
            </a:r>
            <a:endParaRPr lang="en-US" sz="1500" dirty="0"/>
          </a:p>
        </p:txBody>
      </p:sp>
      <p:sp>
        <p:nvSpPr>
          <p:cNvPr id="5" name="Shape 7"/>
          <p:cNvSpPr/>
          <p:nvPr/>
        </p:nvSpPr>
        <p:spPr>
          <a:xfrm>
            <a:off x="6309360" y="1417320"/>
            <a:ext cx="5376672" cy="4846320"/>
          </a:xfrm>
          <a:prstGeom prst="roundRect">
            <a:avLst>
              <a:gd name="adj" fmla="val 150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733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SIMULATION DESIGN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0" y="2331720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6812280" y="221284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232257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Packet-size features scaled by a fixed +/-15%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0" y="3273552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6812280" y="315468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332841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features perturbed by ±20% uniform random noise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583680" y="4215384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6812280" y="40965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812280" y="439826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cost-aware attacker who can shape packet size/timing but cannot alter payload semantics or drop the attack itself — the realistic constraint for encrypted, protocol-conformant traffic.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583680" y="5157216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6812280" y="503834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812280" y="534009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Detection-rate delta on the malicious class, pre- vs. post-perturbation, at fixed decision threshold.</a:t>
            </a:r>
            <a:endParaRPr lang="en-US" sz="98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VERIFICATION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results can be trusted, not just reported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results invite an extreme explanation — but before attributing a collapse to “the model failed to generalize,” the pipeline itself has to be cleared of the two failure modes that most commonly fake that exact signature.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58952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32888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Feature-order alignment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train and predict columns silently diverge (e.g. via a set() operation or a .values conversion), the model reads values into the wrong feature slots — producing near-total collapse that looks exactly like domain shift.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trace + an independent, out-of-notebook replication confirmed identical column order and names between training and prediction. Ruled out.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88536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44568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icons/listche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53288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57216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Label-encoding consistency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2017 and 2018 labels are encoded by separate logic, the 0/1 mapping can silently diverge — the model isn't blind, it's scoring against a mismatched target.</a:t>
            </a:r>
            <a:endParaRPr lang="en-US" sz="93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cleaning function applied to both years; malicious class independently confirmed present at ~29% of the 2018 evaluation set — not a vanishing-minority artifact. Ruled out.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8074152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330184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5328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42832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Duplicate-row leakage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330184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near-duplicate flows spanning train/test splits inflate in-dataset scores, a documented CICIDS2017 artifact (Engelen et al., 2021).</a:t>
            </a:r>
            <a:endParaRPr lang="en-US" sz="930" dirty="0"/>
          </a:p>
        </p:txBody>
      </p:sp>
      <p:sp>
        <p:nvSpPr>
          <p:cNvPr id="22" name="Text 17"/>
          <p:cNvSpPr txBox="1"/>
          <p:nvPr/>
        </p:nvSpPr>
        <p:spPr>
          <a:xfrm>
            <a:off x="8330184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duplicate rows identified and removed pre-split, consistent with the documented rate in the literature.</a:t>
            </a:r>
            <a:endParaRPr lang="en-US" sz="93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did, why, and what came out of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Random Forest and XGBoost on CICIDS2017 (in-dataset baseline), then evaluated the identical, unmodified model zero-shot on CICIDS2018, then applied padding + jitter evasion to the 2018 evaluation set.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73952" y="1536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rarely tests beyond a single dataset. Zero-shot cross-dataset transfer is the harder, more realistic test of whether a detector has learned transferable attack behavior versus memorized one capture environment.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— GENERALIZATION GAP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02920" y="3154680"/>
          <a:ext cx="52120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2834640"/>
            <a:ext cx="5376672" cy="1234440"/>
          </a:xfrm>
          <a:prstGeom prst="roundRect">
            <a:avLst>
              <a:gd name="adj" fmla="val 5185"/>
            </a:avLst>
          </a:prstGeom>
          <a:solidFill>
            <a:srgbClr val="FFF4EC"/>
          </a:solidFill>
          <a:ln w="12700">
            <a:solidFill>
              <a:srgbClr val="F3C6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537960" y="29535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near-total collapse, not a gradual drop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24612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60" dirty="0">
                <a:solidFill>
                  <a:srgbClr val="7A4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Malicious hits 0.00 cross-dataset. Typical published 2017→2018 drops land at F1 0.4–0.7 — ours is more severe, verified via the checks on the previous slide, and corroborated by Cantone et al. (2024) reporting near-random-chance transfer on this exact pair.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309360" y="4206240"/>
            <a:ext cx="5376672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537960" y="4325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why the gap happens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6177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6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distributional shift between CICFlowMeter capture campaigns — flow statistics (packet count, IAT) differ 13×–400× across years. Evasion testing on this baseline is inconclusive (no detection headroom existed pre-perturbation) and is reported as a scoped limitation, not a robustness result.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inferences, and what happens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56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941832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In-dataset F1 = 0.9971; cross-dataset F1 = 0.0023 — a verified, bug-free result.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758952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941832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Malicious = 0.00 cross-dataset — the model is structurally blind, not just weaker.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758952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941832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duplicate-row leakage and label/column mismatches identified and corrected.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4288536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44568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5623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11496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44568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4727448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same-dataset accuracy is not evidence of learned attack semantics — it can reflect memorized capture-environment artifacts.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4544568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4727448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cross-dataset testing is a materially harder, more realistic bar than single-dataset evaluation, consistent with 2024 literature.</a:t>
            </a:r>
            <a:endParaRPr lang="en-US" sz="970" dirty="0"/>
          </a:p>
        </p:txBody>
      </p:sp>
      <p:sp>
        <p:nvSpPr>
          <p:cNvPr id="22" name="Shape 18"/>
          <p:cNvSpPr/>
          <p:nvPr/>
        </p:nvSpPr>
        <p:spPr>
          <a:xfrm>
            <a:off x="4544568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 txBox="1"/>
          <p:nvPr/>
        </p:nvSpPr>
        <p:spPr>
          <a:xfrm>
            <a:off x="4727448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robustness cannot be assessed on a detector with no baseline detection headroom.</a:t>
            </a:r>
            <a:endParaRPr lang="en-US" sz="970" dirty="0"/>
          </a:p>
        </p:txBody>
      </p:sp>
      <p:sp>
        <p:nvSpPr>
          <p:cNvPr id="24" name="Shape 20"/>
          <p:cNvSpPr/>
          <p:nvPr/>
        </p:nvSpPr>
        <p:spPr>
          <a:xfrm>
            <a:off x="8074152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8330184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85623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897112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330184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8513064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Rate-based feature retrain (Flow Bytes/s vs. Total Fwd Packets) to test scale-sensitivity of the collapse.</a:t>
            </a:r>
            <a:endParaRPr lang="en-US" sz="970" dirty="0"/>
          </a:p>
        </p:txBody>
      </p:sp>
      <p:sp>
        <p:nvSpPr>
          <p:cNvPr id="30" name="Shape 25"/>
          <p:cNvSpPr/>
          <p:nvPr/>
        </p:nvSpPr>
        <p:spPr>
          <a:xfrm>
            <a:off x="8330184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 txBox="1"/>
          <p:nvPr/>
        </p:nvSpPr>
        <p:spPr>
          <a:xfrm>
            <a:off x="8513064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Raw-PCAP pipeline to enable early-flow / first-N-packet detection, out of scope for the current flow-CSV data.</a:t>
            </a:r>
            <a:endParaRPr lang="en-US" sz="970" dirty="0"/>
          </a:p>
        </p:txBody>
      </p:sp>
      <p:sp>
        <p:nvSpPr>
          <p:cNvPr id="32" name="Shape 27"/>
          <p:cNvSpPr/>
          <p:nvPr/>
        </p:nvSpPr>
        <p:spPr>
          <a:xfrm>
            <a:off x="8330184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 txBox="1"/>
          <p:nvPr/>
        </p:nvSpPr>
        <p:spPr>
          <a:xfrm>
            <a:off x="8513064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verification/leakage-audit script as a small companion artifact alongside the paper.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 peer-reviewed, verifiable publication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5" y="1911268"/>
            <a:ext cx="584871" cy="5848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37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  —  Peer-reviewed publication of the verified generalization-collapse finding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214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path: submission to arXiv (cs.CR) as an immediate, citable communication checkpoint, in parallel with a full IEEE Access submission — backed by a rigorously verified result, a documented methodology, and a companion verification script others can run against their own pipelines.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VENUES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PRIMARY TARGET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Fast-turnaround, broad scope, strong fit for a rigorously verified empirical benchmarking contribution.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288536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517136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TIFS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17136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EXTENDED-SCOPE CANDIDATE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17136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fit for the domain-adaptation / generalization angle if results are extended with the rate-based retrain.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074152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8302752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 &amp; Security (Elsevier)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02752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EXTENDED-SCOPE CANDIDATE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security journal with a track record in adversarial robustness and IDS evaluation studies.</a:t>
            </a:r>
            <a:endParaRPr lang="en-US" sz="98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2682</Words>
  <Application>Microsoft Office PowerPoint</Application>
  <PresentationFormat>Widescreen</PresentationFormat>
  <Paragraphs>313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Anshveer Singh</cp:lastModifiedBy>
  <cp:revision>5</cp:revision>
  <dcterms:created xsi:type="dcterms:W3CDTF">2026-08-27T18:27:50Z</dcterms:created>
  <dcterms:modified xsi:type="dcterms:W3CDTF">2026-08-28T05:42:02Z</dcterms:modified>
</cp:coreProperties>
</file>