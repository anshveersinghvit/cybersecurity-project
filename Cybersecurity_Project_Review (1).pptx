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2E6FF2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421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6FF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592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In-dataset
(2017→2017)</c:v>
                  </c:pt>
                  <c:pt idx="1">
                    <c:v>Cross-dataset
(2017→2018)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0.9971</c:v>
                </c:pt>
                <c:pt idx="1">
                  <c:v>0.0023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1" i="0" strike="noStrike" sz="1100" u="none">
                  <a:solidFill>
                    <a:srgbClr val="1421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914400"/>
            <a:ext cx="5486400" cy="868680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548640"/>
            <a:ext cx="3291840" cy="329184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4" name="Image 0" descr="/home/claude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15087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2B5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— II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1031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Malicious Network Traffic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Flow-Based Metadata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416052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verified, reproducible cross-dataset generalization study for encrypted-traffic malware detection — evaluated against real-world domain shift and evasion, not just single-dataset benchmarks.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5212080"/>
            <a:ext cx="6035040" cy="0"/>
          </a:xfrm>
          <a:prstGeom prst="line">
            <a:avLst/>
          </a:prstGeom>
          <a:noFill/>
          <a:ln w="12700">
            <a:solidFill>
              <a:srgbClr val="2A457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53949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Gaurav Bakshi   23BCE0546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Anshveer Singh   23BCE0703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Acharya Menon   23BCE0717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5394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GUIDE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Anto 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traffic hides malware from traditional inspection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90% of malware now arrives over HTTPS-encrypted connections. Decrypting it to inspect payloads breaks confidentiality, adds latency, and raises legal exposure. This project's goal: detect malicious behavior from what remains observable without decryption — flow statistics, timing, and handshake metadata — and verify that the detector actually generalizes beyond the network it was trained 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4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280720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7" name="Image 0" descr="/home/claude/icons/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7180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5528" y="3611880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packet inspection fails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95528" y="4251960"/>
            <a:ext cx="2935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interception breaks end-to-end confidentiality, adds latency, and raises legal and privacy concerns most SOCs can't accept.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06824" y="251460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4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280720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12" name="Image 1" descr="/home/claude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97180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99432" y="3611880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signal is in the metadata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99432" y="4251960"/>
            <a:ext cx="2935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timing, size distributions, and TLS handshake metadata alone carry a detectable signal — no need to decrypt a single packet.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10728" y="251460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4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03336" y="2807208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17" name="Image 2" descr="/home/claude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297180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3336" y="3611880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SOC teams actually need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403336" y="4251960"/>
            <a:ext cx="2935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detector proven to hold up on traffic it wasn't trained on — not just a high score on one lab dataset.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&amp; TERMINOLOGY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Precise definitions used throughout this work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533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term below is used consistently, in this exact sense, in every subsequent slide and in the underlying implementation.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538728" cy="2084832"/>
          </a:xfrm>
          <a:prstGeom prst="roundRect">
            <a:avLst>
              <a:gd name="adj" fmla="val 3070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2057400"/>
            <a:ext cx="310896" cy="310896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61288" y="2020824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Malicious Traffic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2496312"/>
            <a:ext cx="308152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 flow whose CICFlowMeter statistical signature matches a ground-truth-labeled attack category (DoS, DDoS, Brute Force, Botnet, Infiltration, Port Scan, Web Attack) as defined by the dataset's controlled attack-generation protocol — distinguished from Benign traffic, which is normal user/application behavior.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288536" y="1874520"/>
            <a:ext cx="3538728" cy="2084832"/>
          </a:xfrm>
          <a:prstGeom prst="roundRect">
            <a:avLst>
              <a:gd name="adj" fmla="val 3070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7992" y="2057400"/>
            <a:ext cx="310896" cy="310896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07992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46904" y="2020824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496312"/>
            <a:ext cx="308152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sequence of packets sharing the same 5-tuple (src/dst IP, src/dst port, protocol) within a bounded timeout window, aggregated by CICFlowMeter into ~80 statistical features. This project never inspects payload — only these aggregate statistics.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074152" y="1874520"/>
            <a:ext cx="3538728" cy="2084832"/>
          </a:xfrm>
          <a:prstGeom prst="roundRect">
            <a:avLst>
              <a:gd name="adj" fmla="val 3070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057400"/>
            <a:ext cx="310896" cy="310896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93608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732520" y="2020824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Traffic Classification (ETC)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311896" y="2496312"/>
            <a:ext cx="308152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Classifying flows by behavior or threat category using only observable metadata (timing, size, TLS handshake fields) — never decrypting or inspecting payload content.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3538728" cy="2084832"/>
          </a:xfrm>
          <a:prstGeom prst="roundRect">
            <a:avLst>
              <a:gd name="adj" fmla="val 3070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" y="4343400"/>
            <a:ext cx="310896" cy="310896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2376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61288" y="4306824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Shift / Generalization Gap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40664" y="4782312"/>
            <a:ext cx="308152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performance drop when a model trained on one data distribution (capture environment, testbed, tool version) is evaluated on a distributionally different one — the central phenomenon this project measures.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4288536" y="4160520"/>
            <a:ext cx="3538728" cy="2084832"/>
          </a:xfrm>
          <a:prstGeom prst="roundRect">
            <a:avLst>
              <a:gd name="adj" fmla="val 3070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07992" y="4343400"/>
            <a:ext cx="310896" cy="310896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07992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946904" y="4306824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Cross-Dataset Evaluation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26280" y="4782312"/>
            <a:ext cx="308152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exclusively on one dataset (CICIDS2017) and evaluating, with zero retraining or fine-tuning, on a second, independently captured dataset (CICIDS2018).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8074152" y="4160520"/>
            <a:ext cx="3538728" cy="2084832"/>
          </a:xfrm>
          <a:prstGeom prst="roundRect">
            <a:avLst>
              <a:gd name="adj" fmla="val 3070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343400"/>
            <a:ext cx="310896" cy="310896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93608" y="4343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32520" y="4306824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Evasion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311896" y="4782312"/>
            <a:ext cx="308152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perturbation of a flow's observable features (e.g., packet padding, timing jitter) designed to move a malicious flow's feature vector across the model's decision boundary into a benign classification.</a:t>
            </a:r>
            <a:endParaRPr lang="en-US" sz="93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papers spanning foundational work, dataset critique &amp; 2024–26 SOTA</a:t>
            </a:r>
            <a:endParaRPr lang="en-US" sz="2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11183112" cy="4709160"/>
        </p:xfrm>
        <a:graphic>
          <a:graphicData uri="http://schemas.openxmlformats.org/drawingml/2006/table">
            <a:tbl>
              <a:tblPr/>
              <a:tblGrid>
                <a:gridCol w="3246120"/>
                <a:gridCol w="1417320"/>
                <a:gridCol w="3383280"/>
                <a:gridCol w="31363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/ Venue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Relevance to this project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Sharafaldin, Lashkari &amp; Ghorbani — CICIDS2017 Dataset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2018, ICISSP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B-Profile behavioral traffic generation + CICFlowMeter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of the primary training dataset used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Anderson &amp; McGrew — Noisy Labels &amp; Non-Stationarity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2017, ACM SIGKDD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Flow-level features (size, timing, TLS) with noisy-label handling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paper — single-dataset, full-flow only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Anderson &amp; McGrew — Contextual Flow Data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2016, ACM AISec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Supervised ML on TLS handshake + DNS/HTTP context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Establishes metadata-only detection is viable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Engelen, Rimmer &amp; Joosen — Troubleshooting CICIDS2017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2021, IEEE SPW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Audits CICIDS2017 labeling &amp; flow-construction correctness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 for our dedup &amp; leakage-control methodology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Cantone, Marrocco &amp; Bria — Cross-Dataset Generalization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2024, IEEE Access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classifiers x 4 datasets, zero-shot cross-dataset transfer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Directly corroborates our collapse finding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Maseer et al. — Benchmarking Anomaly-Based IDS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2021, IEEE Access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k-NN, 99.49% on CICIDS2017, transparent methodology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Reproduction / verification target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Shen et al. — SmartDetector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2025, IEEE TIFS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Contrastive learning to reduce labelled-data reliance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cross-dataset or evasion evaluation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BiasSeeker — Shortcut Detection in Encrypted Traffic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2026, arXiv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Model-agnostic shortcut / leakage-identifier detection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Closest related work to our verification layer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ET-BERT — Pretrained Traffic Transformer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2022, WWW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Self-supervised pretraining for traffic representation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SOTA context for future-work discussion</a:t>
                      </a:r>
                      <a:endParaRPr lang="en-US" sz="8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Flow-based classifiers don't survive contact with the real world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— including the base paper — evaluates on a single dataset, assumes full flows are available, and is rarely tested against evasion. These are field-wide gaps, established across the literature surveyed above; the Objectives slide scopes exactly which ones this project addresses.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377440"/>
            <a:ext cx="3520440" cy="3337560"/>
          </a:xfrm>
          <a:prstGeom prst="roundRect">
            <a:avLst>
              <a:gd name="adj" fmla="val 2466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2633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pic>
        <p:nvPicPr>
          <p:cNvPr id="7" name="Image 0" descr="/home/claude/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2697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5528" y="329184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 Gap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95528" y="3886200"/>
            <a:ext cx="29352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trained and evaluated on one dataset (e.g. CICIDS2017 alone) overfit to that network's traffic characteristics and collapse on unseen networks.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06824" y="2377440"/>
            <a:ext cx="3520440" cy="3337560"/>
          </a:xfrm>
          <a:prstGeom prst="roundRect">
            <a:avLst>
              <a:gd name="adj" fmla="val 2466"/>
            </a:avLst>
          </a:prstGeom>
          <a:solidFill>
            <a:srgbClr val="0B1F3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99432" y="2633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pic>
        <p:nvPicPr>
          <p:cNvPr id="12" name="Image 1" descr="/home/claude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24" y="26974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99432" y="329184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Evasion Fragility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99432" y="3886200"/>
            <a:ext cx="29352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Timing- and size-based classifiers can be defeated cheaply by attackers using packet padding or artificial jitter — most models are never tested against this.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10728" y="2377440"/>
            <a:ext cx="3520440" cy="3337560"/>
          </a:xfrm>
          <a:prstGeom prst="roundRect">
            <a:avLst>
              <a:gd name="adj" fmla="val 2466"/>
            </a:avLst>
          </a:prstGeom>
          <a:solidFill>
            <a:srgbClr val="0B1F3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403336" y="26334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5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pic>
        <p:nvPicPr>
          <p:cNvPr id="17" name="Image 2" descr="/home/claude/icons/activ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3928" y="26974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3336" y="3291840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Detection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403336" y="3886200"/>
            <a:ext cx="29352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classifiers require a completed flow before classifying it — a field-wide limitation, operationally too late for real-time SOC response.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sets out to deliver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520440" cy="2697480"/>
          </a:xfrm>
          <a:prstGeom prst="roundRect">
            <a:avLst>
              <a:gd name="adj" fmla="val 3051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64792"/>
            <a:ext cx="548640" cy="54864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64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Cross-dataset generalization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CICIDS2017, evaluate zero-shot on CICIDS2018 to quantify the real accuracy drop, using dataset-invariant behavioural features (no IPs, ports, or topology).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06824" y="1508760"/>
            <a:ext cx="3520440" cy="2697480"/>
          </a:xfrm>
          <a:prstGeom prst="roundRect">
            <a:avLst>
              <a:gd name="adj" fmla="val 3051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1144" y="1764792"/>
            <a:ext cx="548640" cy="54864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81144" y="1764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81144" y="2423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Evasion-robustness testing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81144" y="29260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packet-padding and timing-jitter evasion attacks against the trained detector and measure the resulting detection degradation.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10728" y="1508760"/>
            <a:ext cx="3520440" cy="2697480"/>
          </a:xfrm>
          <a:prstGeom prst="roundRect">
            <a:avLst>
              <a:gd name="adj" fmla="val 3051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5048" y="1764792"/>
            <a:ext cx="548640" cy="548640"/>
          </a:xfrm>
          <a:prstGeom prst="ellipse">
            <a:avLst/>
          </a:prstGeom>
          <a:solidFill>
            <a:srgbClr val="2E6F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85048" y="1764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85048" y="24231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Verified, reproducible methodology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85048" y="29260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test and rule out common pipeline artifacts — feature-order mismatch, label-encoding mismatch, duplicate-row leakage — before trusting any result.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434840"/>
            <a:ext cx="11183112" cy="1600200"/>
          </a:xfrm>
          <a:prstGeom prst="roundRect">
            <a:avLst>
              <a:gd name="adj" fmla="val 4571"/>
            </a:avLst>
          </a:prstGeom>
          <a:solidFill>
            <a:srgbClr val="FFF4EC"/>
          </a:solidFill>
          <a:ln w="12700">
            <a:solidFill>
              <a:srgbClr val="F3C6A8"/>
            </a:solidFill>
            <a:prstDash val="solid"/>
          </a:ln>
        </p:spPr>
      </p:sp>
      <p:pic>
        <p:nvPicPr>
          <p:cNvPr id="20" name="Image 0" descr="/home/claude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4690872"/>
            <a:ext cx="384048" cy="38404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325880" y="46177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3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out of scope: early-flow / first-N-packet detection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4983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7A4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CICIDS2017/2018 are pre-aggregated flow CSVs produced by CICFlowMeter — there is no raw PCAP access, so first-N-packet features cannot be reconstructed from this data. This is a data-availability constraint, not an oversight; it is flagged as future work requiring a raw packet-capture pipeline (see Conclusion &amp; Future Work).</a:t>
            </a:r>
            <a:endParaRPr lang="en-US" sz="108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architecture: data to verified, trustworthy results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5855" cy="768096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81328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965960" y="1554480"/>
            <a:ext cx="47974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39112" y="1554480"/>
            <a:ext cx="4651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CICIDS2017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daily capture CSVs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6891376" y="1554480"/>
            <a:ext cx="47974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64528" y="1554480"/>
            <a:ext cx="4651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CICIDS2018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capture CSVs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1083564" y="2249424"/>
            <a:ext cx="164592" cy="100584"/>
          </a:xfrm>
          <a:prstGeom prst="downArrow">
            <a:avLst/>
          </a:prstGeom>
          <a:solidFill>
            <a:srgbClr val="C3CEE3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2350008"/>
            <a:ext cx="11185855" cy="768096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350008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&amp;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CONTROL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965960" y="2423160"/>
            <a:ext cx="315559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039112" y="2423160"/>
            <a:ext cx="300929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Normalization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(BENIGN vs Benign)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5249570" y="2423160"/>
            <a:ext cx="315559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22722" y="2423160"/>
            <a:ext cx="300929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Deduplication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~21% rows removed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8533181" y="2423160"/>
            <a:ext cx="315559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06333" y="2423160"/>
            <a:ext cx="300929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Alignment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ordered list, 26 features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1083564" y="3118104"/>
            <a:ext cx="164592" cy="100584"/>
          </a:xfrm>
          <a:prstGeom prst="downArrow">
            <a:avLst/>
          </a:prstGeom>
          <a:solidFill>
            <a:srgbClr val="C3CEE3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218688"/>
            <a:ext cx="11185855" cy="768096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218688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65960" y="3291840"/>
            <a:ext cx="184215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039112" y="3291840"/>
            <a:ext cx="16958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Stats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3936126" y="3291840"/>
            <a:ext cx="184215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09278" y="3291840"/>
            <a:ext cx="16958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/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IAT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5906292" y="3291840"/>
            <a:ext cx="184215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79444" y="3291840"/>
            <a:ext cx="16958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Handshake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7876459" y="3291840"/>
            <a:ext cx="184215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949611" y="3291840"/>
            <a:ext cx="16958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9846625" y="3291840"/>
            <a:ext cx="184215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19777" y="3291840"/>
            <a:ext cx="169584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Ratios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1083564" y="3986784"/>
            <a:ext cx="164592" cy="100584"/>
          </a:xfrm>
          <a:prstGeom prst="downArrow">
            <a:avLst/>
          </a:prstGeom>
          <a:solidFill>
            <a:srgbClr val="C3C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502920" y="4087368"/>
            <a:ext cx="11185855" cy="768096"/>
          </a:xfrm>
          <a:prstGeom prst="roundRect">
            <a:avLst>
              <a:gd name="adj" fmla="val 714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4087368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965960" y="4160520"/>
            <a:ext cx="4797400" cy="621792"/>
          </a:xfrm>
          <a:prstGeom prst="roundRect">
            <a:avLst>
              <a:gd name="adj" fmla="val 7353"/>
            </a:avLst>
          </a:prstGeom>
          <a:solidFill>
            <a:srgbClr val="12294A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039112" y="4160520"/>
            <a:ext cx="4651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n=200, depth=20, class_weight=balanced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6891376" y="4160520"/>
            <a:ext cx="4797400" cy="621792"/>
          </a:xfrm>
          <a:prstGeom prst="roundRect">
            <a:avLst>
              <a:gd name="adj" fmla="val 7353"/>
            </a:avLst>
          </a:prstGeom>
          <a:solidFill>
            <a:srgbClr val="12294A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964528" y="4160520"/>
            <a:ext cx="4651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n=300, depth=6, lr=0.1, hist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1083564" y="4855464"/>
            <a:ext cx="164592" cy="100584"/>
          </a:xfrm>
          <a:prstGeom prst="downArrow">
            <a:avLst/>
          </a:prstGeom>
          <a:solidFill>
            <a:srgbClr val="C3CEE3"/>
          </a:solidFill>
          <a:ln/>
        </p:spPr>
      </p:sp>
      <p:sp>
        <p:nvSpPr>
          <p:cNvPr id="40" name="Shape 38"/>
          <p:cNvSpPr/>
          <p:nvPr/>
        </p:nvSpPr>
        <p:spPr>
          <a:xfrm>
            <a:off x="502920" y="4956048"/>
            <a:ext cx="11185855" cy="530352"/>
          </a:xfrm>
          <a:prstGeom prst="roundRect">
            <a:avLst>
              <a:gd name="adj" fmla="val 10345"/>
            </a:avLst>
          </a:prstGeom>
          <a:solidFill>
            <a:srgbClr val="EAF6F1"/>
          </a:solidFill>
          <a:ln w="12700">
            <a:solidFill>
              <a:srgbClr val="BFE3D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" y="4956048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965960" y="5029200"/>
            <a:ext cx="9722815" cy="384048"/>
          </a:xfrm>
          <a:prstGeom prst="roundRect">
            <a:avLst>
              <a:gd name="adj" fmla="val 11905"/>
            </a:avLst>
          </a:prstGeom>
          <a:solidFill>
            <a:srgbClr val="EAF6F1"/>
          </a:solidFill>
          <a:ln w="12700">
            <a:solidFill>
              <a:srgbClr val="BFE3D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039112" y="5029200"/>
            <a:ext cx="95765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0F6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Feature-order alignment  •  ✓ Label-encoding consistency  •  ✓ Duplicate-row leakage — all three ruled out before results are trusted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1083564" y="5486400"/>
            <a:ext cx="164592" cy="100584"/>
          </a:xfrm>
          <a:prstGeom prst="downArrow">
            <a:avLst/>
          </a:prstGeom>
          <a:solidFill>
            <a:srgbClr val="C3CEE3"/>
          </a:solidFill>
          <a:ln/>
        </p:spPr>
      </p:sp>
      <p:sp>
        <p:nvSpPr>
          <p:cNvPr id="45" name="Shape 43"/>
          <p:cNvSpPr/>
          <p:nvPr/>
        </p:nvSpPr>
        <p:spPr>
          <a:xfrm>
            <a:off x="502920" y="5586984"/>
            <a:ext cx="11185855" cy="768096"/>
          </a:xfrm>
          <a:prstGeom prst="roundRect">
            <a:avLst>
              <a:gd name="adj" fmla="val 7143"/>
            </a:avLst>
          </a:prstGeom>
          <a:solidFill>
            <a:srgbClr val="FFF4E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" y="5586984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b="1" spc="50" kern="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965960" y="5660136"/>
            <a:ext cx="315559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F3C6A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039112" y="5660136"/>
            <a:ext cx="300929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In-Dataset Test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 → 2017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5249570" y="5660136"/>
            <a:ext cx="315559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F3C6A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322722" y="5660136"/>
            <a:ext cx="300929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Cross-Dataset Test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 → 2018</a:t>
            </a:r>
            <a:endParaRPr lang="en-US" sz="870" dirty="0"/>
          </a:p>
        </p:txBody>
      </p:sp>
      <p:sp>
        <p:nvSpPr>
          <p:cNvPr id="51" name="Shape 49"/>
          <p:cNvSpPr/>
          <p:nvPr/>
        </p:nvSpPr>
        <p:spPr>
          <a:xfrm>
            <a:off x="8533181" y="5660136"/>
            <a:ext cx="3155594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F3C6A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606333" y="5660136"/>
            <a:ext cx="300929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Evasion Simulation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 + jitter</a:t>
            </a:r>
            <a:endParaRPr lang="en-US" sz="870" dirty="0"/>
          </a:p>
        </p:txBody>
      </p:sp>
      <p:sp>
        <p:nvSpPr>
          <p:cNvPr id="53" name="Text 51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verification algorithm with explicit decision logic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25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i="1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classification models (Random Forest, XGBoost) are standard. The algorithm below is the verification-gated evaluation procedure built around them — formalized with the same rigor as any other CS algorithm: defined inputs, deterministic steps, and explicit branching on failure conditions.</a:t>
            </a:r>
            <a:endParaRPr lang="en-US" sz="113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11183112" cy="4389120"/>
          </a:xfrm>
          <a:prstGeom prst="roundRect">
            <a:avLst>
              <a:gd name="adj" fmla="val 1458"/>
            </a:avLst>
          </a:prstGeom>
          <a:solidFill>
            <a:srgbClr val="0B1F3A"/>
          </a:solidFill>
          <a:ln/>
        </p:spPr>
      </p:sp>
      <p:pic>
        <p:nvPicPr>
          <p:cNvPr id="6" name="Image 0" descr="/home/claude/icon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1396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2121408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1 — Leakage-Aware Cross-Dataset Evaluation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95528" y="2633472"/>
            <a:ext cx="1059789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30" b="1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D₂₀₁₇, D₂₀₁₈ (raw flow CSVs),  model class M ∈ {RandomForest, XGBoost}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b="1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F1_in, F1_cross, F1_evade, verification_report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1:  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D'₂₀₁₇ ← Clean(D₂₀₁₇);  D'₂₀₁₈ ← Clean(D₂₀₁₈)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12B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// label normalize, dedup ≈ 21%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2:  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← OrderedIntersect(Cols(D'₂₀₁₇), Cols(D'₂₀₁₈))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12B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single canonical order, reused verbatim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3:  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← Split(D'₂₀₁₇[F], 0.7)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4:  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 ← Fit(M, X_train, y_train)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5:  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9BF3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 Cols(X_test) == Cols(X_train)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12B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// verification gate 1: feature order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6:  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9BF3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 Encoder(y_2018) == Encoder(y_train)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12B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// verification gate 2: label encoding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7:  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F1_in    ← Eval(θ, X_test, y_test)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8:  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F1_cross ← Eval(θ, D'₂₀₁₈[F], y_2018)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12B5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// zero-shot, no retraining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9:  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X_evade  ← Perturb(D'₂₀₁₈[F], padding, jitter)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  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F1_evade ← Eval(θ, X_evade, y_2018)</a:t>
            </a:r>
            <a:endParaRPr lang="en-US" sz="113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6C86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  </a:t>
            </a:r>
            <a:pPr indent="0" marL="0">
              <a:lnSpc>
                <a:spcPct val="132000"/>
              </a:lnSpc>
              <a:buNone/>
            </a:pPr>
            <a:r>
              <a:rPr lang="en-US" sz="1130" dirty="0">
                <a:solidFill>
                  <a:srgbClr val="E8E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 F1_in, F1_cross, F1_evade, {gate1: pass, gate2: pass}</a:t>
            </a:r>
            <a:endParaRPr lang="en-US" sz="113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— DECISION FLOW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algorithm, visualized as explicit branching logic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85800" y="1444752"/>
            <a:ext cx="4160520" cy="3657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4447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— D₂₀₁₇, D₂₀₁₈, model class 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83764" y="1810512"/>
            <a:ext cx="164592" cy="118872"/>
          </a:xfrm>
          <a:prstGeom prst="downArrow">
            <a:avLst/>
          </a:prstGeom>
          <a:solidFill>
            <a:srgbClr val="B9C4D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947672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1947672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&amp; Align</a:t>
            </a:r>
            <a:endParaRPr lang="en-US" sz="96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(dedup ~21%, label normalize, ordered 26-feature list)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2683764" y="2331720"/>
            <a:ext cx="164592" cy="118872"/>
          </a:xfrm>
          <a:prstGeom prst="downArrow">
            <a:avLst/>
          </a:prstGeom>
          <a:solidFill>
            <a:srgbClr val="B9C4D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468880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2468880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Fit(M, X_train, y_train)  —  train on D'₂₀₁₇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683764" y="2852928"/>
            <a:ext cx="164592" cy="118872"/>
          </a:xfrm>
          <a:prstGeom prst="downArrow">
            <a:avLst/>
          </a:prstGeom>
          <a:solidFill>
            <a:srgbClr val="B9C4DA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990088"/>
            <a:ext cx="4434840" cy="457200"/>
          </a:xfrm>
          <a:prstGeom prst="diamond">
            <a:avLst/>
          </a:prstGeom>
          <a:solidFill>
            <a:srgbClr val="FFF4EC"/>
          </a:solidFill>
          <a:ln w="15875">
            <a:solidFill>
              <a:srgbClr val="F3C6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9900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9A3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order:</a:t>
            </a:r>
            <a:endParaRPr lang="en-US" sz="9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9A3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columns == train columns?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029200" y="3154680"/>
            <a:ext cx="777240" cy="128016"/>
          </a:xfrm>
          <a:prstGeom prst="rightArrow">
            <a:avLst/>
          </a:prstGeom>
          <a:solidFill>
            <a:srgbClr val="E059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0" y="292608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89320" y="2944368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FDEDEA"/>
          </a:solidFill>
          <a:ln w="15875">
            <a:solidFill>
              <a:srgbClr val="E059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17336" y="2944368"/>
            <a:ext cx="3355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23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23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Flag: feature-order bug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23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fix before any result is trusted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83764" y="3447288"/>
            <a:ext cx="164592" cy="118872"/>
          </a:xfrm>
          <a:prstGeom prst="downArrow">
            <a:avLst/>
          </a:prstGeom>
          <a:solidFill>
            <a:srgbClr val="B9C4D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400300" y="3429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584448"/>
            <a:ext cx="4434840" cy="457200"/>
          </a:xfrm>
          <a:prstGeom prst="diamond">
            <a:avLst/>
          </a:prstGeom>
          <a:solidFill>
            <a:srgbClr val="FFF4EC"/>
          </a:solidFill>
          <a:ln w="15875">
            <a:solidFill>
              <a:srgbClr val="F3C6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5844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9A3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encoding:</a:t>
            </a:r>
            <a:endParaRPr lang="en-US" sz="9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9A3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encoder == train encoder?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5029200" y="3749040"/>
            <a:ext cx="777240" cy="128016"/>
          </a:xfrm>
          <a:prstGeom prst="rightArrow">
            <a:avLst/>
          </a:prstGeom>
          <a:solidFill>
            <a:srgbClr val="E0592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29200" y="35204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89320" y="3538728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FDEDEA"/>
          </a:solidFill>
          <a:ln w="15875">
            <a:solidFill>
              <a:srgbClr val="E0592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17336" y="3538728"/>
            <a:ext cx="3355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23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23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Flag: label-encoding bug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23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fix before any result is trusted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83764" y="4041648"/>
            <a:ext cx="164592" cy="118872"/>
          </a:xfrm>
          <a:prstGeom prst="downArrow">
            <a:avLst/>
          </a:prstGeom>
          <a:solidFill>
            <a:srgbClr val="B9C4D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400300" y="40233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" y="4178808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5528" y="4178808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Evaluate: In-Dataset (2017→2017)  &amp;  Cross-Dataset (2017→2018)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2683764" y="4562856"/>
            <a:ext cx="164592" cy="118872"/>
          </a:xfrm>
          <a:prstGeom prst="downArrow">
            <a:avLst/>
          </a:prstGeom>
          <a:solidFill>
            <a:srgbClr val="B9C4DA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4700016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5528" y="4700016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6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Perturb(D₂₀₁₈, padding, jitter)  —  apply evasion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2683764" y="5084064"/>
            <a:ext cx="164592" cy="118872"/>
          </a:xfrm>
          <a:prstGeom prst="downArrow">
            <a:avLst/>
          </a:prstGeom>
          <a:solidFill>
            <a:srgbClr val="B9C4DA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5221224"/>
            <a:ext cx="4434840" cy="457200"/>
          </a:xfrm>
          <a:prstGeom prst="diamond">
            <a:avLst/>
          </a:prstGeom>
          <a:solidFill>
            <a:srgbClr val="FFF4EC"/>
          </a:solidFill>
          <a:ln w="15875">
            <a:solidFill>
              <a:srgbClr val="F3C6A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522122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9A3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Pre-evasion detection</a:t>
            </a:r>
            <a:endParaRPr lang="en-US" sz="9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9A3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&gt; 0 on Malicious?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5029200" y="5385816"/>
            <a:ext cx="777240" cy="128016"/>
          </a:xfrm>
          <a:prstGeom prst="rightArrow">
            <a:avLst/>
          </a:prstGeom>
          <a:solidFill>
            <a:srgbClr val="E0592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029200" y="515721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89320" y="5175504"/>
            <a:ext cx="3611880" cy="548640"/>
          </a:xfrm>
          <a:prstGeom prst="roundRect">
            <a:avLst>
              <a:gd name="adj" fmla="val 10000"/>
            </a:avLst>
          </a:prstGeom>
          <a:solidFill>
            <a:srgbClr val="FDEDEA"/>
          </a:solidFill>
          <a:ln w="15875">
            <a:solidFill>
              <a:srgbClr val="E0592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17336" y="5175504"/>
            <a:ext cx="3355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23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Report: Evasion Inconclusive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B23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(scoped limitation, not a result)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83764" y="5678424"/>
            <a:ext cx="164592" cy="118872"/>
          </a:xfrm>
          <a:prstGeom prst="downArrow">
            <a:avLst/>
          </a:prstGeom>
          <a:solidFill>
            <a:srgbClr val="B9C4D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400300" y="56601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5800" y="5815584"/>
            <a:ext cx="4160520" cy="38404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68680" y="581558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— Verified F1 scores + evasion result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&amp; EVASION DESIGN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model sees — and how we attack it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GROUPS PER FLOW  (26 aligned dimensions)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5532120" cy="2423160"/>
        </p:xfrm>
        <a:graphic>
          <a:graphicData uri="http://schemas.openxmlformats.org/drawingml/2006/table">
            <a:tbl>
              <a:tblPr/>
              <a:tblGrid>
                <a:gridCol w="1783080"/>
                <a:gridCol w="3749040"/>
              </a:tblGrid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Packet Length Stats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 / max / mean / std of fwd &amp; bwd packet sizes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Timing / IAT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Flow duration, inter-arrival time mean &amp; std, active/idle time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TLS Handshake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Cipher suite, extension count, certificate length, SNI presence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 Counts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SYN, ACK, PSH, FIN, RST counts per flow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Directional Ratios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Fwd/bwd packet &amp; byte ratios, bytes-per-second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BY DESIGN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4645152"/>
            <a:ext cx="5532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3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Source/destination IP, port, timestamp, and flow duration are deliberately dropped — these are network-topology artifacts, not attack-behavior signal, and keeping them would let the model memorize the capture environment instead of learning transferable behavior.</a:t>
            </a:r>
            <a:endParaRPr lang="en-US" sz="1030" dirty="0"/>
          </a:p>
        </p:txBody>
      </p:sp>
      <p:sp>
        <p:nvSpPr>
          <p:cNvPr id="8" name="Shape 5"/>
          <p:cNvSpPr/>
          <p:nvPr/>
        </p:nvSpPr>
        <p:spPr>
          <a:xfrm>
            <a:off x="502920" y="5669280"/>
            <a:ext cx="5532120" cy="566928"/>
          </a:xfrm>
          <a:prstGeom prst="roundRect">
            <a:avLst>
              <a:gd name="adj" fmla="val 9677"/>
            </a:avLst>
          </a:prstGeom>
          <a:solidFill>
            <a:srgbClr val="EAF6F1"/>
          </a:solidFill>
          <a:ln w="12700">
            <a:solidFill>
              <a:srgbClr val="BFE3D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04088" y="5669280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 </a:t>
            </a:r>
            <a:pPr indent="0" marL="0">
              <a:buNone/>
            </a:pPr>
            <a:r>
              <a:rPr lang="en-US" sz="980" dirty="0">
                <a:solidFill>
                  <a:srgbClr val="1F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features  •  </a:t>
            </a:r>
            <a:pPr indent="0" marL="0">
              <a:buNone/>
            </a:pPr>
            <a:r>
              <a:rPr lang="en-US" sz="15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 </a:t>
            </a:r>
            <a:pPr indent="0" marL="0">
              <a:buNone/>
            </a:pPr>
            <a:r>
              <a:rPr lang="en-US" sz="980" dirty="0">
                <a:solidFill>
                  <a:srgbClr val="1F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 features included  — verified in Pipeline Verification (next section)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1417320"/>
            <a:ext cx="5376672" cy="4846320"/>
          </a:xfrm>
          <a:prstGeom prst="roundRect">
            <a:avLst>
              <a:gd name="adj" fmla="val 1509"/>
            </a:avLst>
          </a:prstGeom>
          <a:solidFill>
            <a:srgbClr val="0B1F3A"/>
          </a:solidFill>
          <a:ln/>
        </p:spPr>
      </p:sp>
      <p:pic>
        <p:nvPicPr>
          <p:cNvPr id="11" name="Image 0" descr="/home/claude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7335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8660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EVASION SIMULATION DESIGN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583680" y="2331720"/>
            <a:ext cx="82296" cy="82296"/>
          </a:xfrm>
          <a:prstGeom prst="ellipse">
            <a:avLst/>
          </a:prstGeom>
          <a:solidFill>
            <a:srgbClr val="12B5B0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812280" y="2212848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812280" y="2514600"/>
            <a:ext cx="4599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bytes appended to packets, up to MTU, to distort packet-size distributions the model relies on.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6583680" y="3273552"/>
            <a:ext cx="82296" cy="82296"/>
          </a:xfrm>
          <a:prstGeom prst="ellipse">
            <a:avLst/>
          </a:prstGeom>
          <a:solidFill>
            <a:srgbClr val="12B5B0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812280" y="3154680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Jitter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6812280" y="3456432"/>
            <a:ext cx="4599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0–50ms delay injected between packets to distort inter-arrival-time (IAT) features.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6583680" y="4215384"/>
            <a:ext cx="82296" cy="82296"/>
          </a:xfrm>
          <a:prstGeom prst="ellipse">
            <a:avLst/>
          </a:prstGeom>
          <a:solidFill>
            <a:srgbClr val="12B5B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812280" y="4096512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6812280" y="4398264"/>
            <a:ext cx="4599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cost-aware attacker who can shape packet size/timing but cannot alter payload semantics or drop the attack itself — the realistic constraint for encrypted, protocol-conformant traffic.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6583680" y="5157216"/>
            <a:ext cx="82296" cy="82296"/>
          </a:xfrm>
          <a:prstGeom prst="ellipse">
            <a:avLst/>
          </a:prstGeom>
          <a:solidFill>
            <a:srgbClr val="12B5B0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812280" y="5038344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6812280" y="5340096"/>
            <a:ext cx="4599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Detection-rate delta on the malicious class, pre- vs. post-perturbation, at fixed decision threshold.</a:t>
            </a:r>
            <a:endParaRPr lang="en-US" sz="980" dirty="0"/>
          </a:p>
        </p:txBody>
      </p:sp>
      <p:sp>
        <p:nvSpPr>
          <p:cNvPr id="25" name="Text 21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26" name="Text 22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VERIFICATION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results can be trusted, not just reported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results invite an extreme explanation — but before attributing a collapse to “the model failed to generalize,” the pipeline itself has to be cleared of the two failure modes that most commonly fake that exact signature.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538728" cy="3749040"/>
          </a:xfrm>
          <a:prstGeom prst="roundRect">
            <a:avLst>
              <a:gd name="adj" fmla="val 2067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240487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7" name="Image 0" descr="/home/claude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532888"/>
            <a:ext cx="246888" cy="2468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242316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Feature-order alignment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58952" y="3108960"/>
            <a:ext cx="3026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b="1" dirty="0">
                <a:solidFill>
                  <a:srgbClr val="E05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 </a:t>
            </a:r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train and predict columns silently diverge (e.g. via a set() operation or a .values conversion), the model reads values into the wrong feature slots — producing near-total collapse that looks exactly like domain shift.</a:t>
            </a:r>
            <a:endParaRPr lang="en-US" sz="930" dirty="0"/>
          </a:p>
        </p:txBody>
      </p:sp>
      <p:sp>
        <p:nvSpPr>
          <p:cNvPr id="10" name="Text 7"/>
          <p:cNvSpPr txBox="1"/>
          <p:nvPr/>
        </p:nvSpPr>
        <p:spPr>
          <a:xfrm>
            <a:off x="758952" y="4709160"/>
            <a:ext cx="3026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 </a:t>
            </a:r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code trace + an independent, out-of-notebook replication confirmed identical column order and names between training and prediction. Ruled out.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4288536" y="2148840"/>
            <a:ext cx="3538728" cy="3749040"/>
          </a:xfrm>
          <a:prstGeom prst="roundRect">
            <a:avLst>
              <a:gd name="adj" fmla="val 2067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44568" y="240487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13" name="Image 1" descr="/home/claude/icons/listchec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2532888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57216" y="242316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Label-encoding consistency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4544568" y="3108960"/>
            <a:ext cx="3026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b="1" dirty="0">
                <a:solidFill>
                  <a:srgbClr val="E05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 </a:t>
            </a:r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2017 and 2018 labels are encoded by separate logic, the 0/1 mapping can silently diverge — the model isn't blind, it's scoring against a mismatched target.</a:t>
            </a:r>
            <a:endParaRPr lang="en-US" sz="930" dirty="0"/>
          </a:p>
        </p:txBody>
      </p:sp>
      <p:sp>
        <p:nvSpPr>
          <p:cNvPr id="16" name="Text 12"/>
          <p:cNvSpPr txBox="1"/>
          <p:nvPr/>
        </p:nvSpPr>
        <p:spPr>
          <a:xfrm>
            <a:off x="4544568" y="4709160"/>
            <a:ext cx="3026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 </a:t>
            </a:r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cleaning function applied to both years; malicious class independently confirmed present at ~29% of the 2018 evaluation set — not a vanishing-minority artifact. Ruled out.</a:t>
            </a:r>
            <a:endParaRPr lang="en-US" sz="930" dirty="0"/>
          </a:p>
        </p:txBody>
      </p:sp>
      <p:sp>
        <p:nvSpPr>
          <p:cNvPr id="17" name="Shape 13"/>
          <p:cNvSpPr/>
          <p:nvPr/>
        </p:nvSpPr>
        <p:spPr>
          <a:xfrm>
            <a:off x="8074152" y="2148840"/>
            <a:ext cx="3538728" cy="3749040"/>
          </a:xfrm>
          <a:prstGeom prst="roundRect">
            <a:avLst>
              <a:gd name="adj" fmla="val 2067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30184" y="240487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pic>
        <p:nvPicPr>
          <p:cNvPr id="19" name="Image 2" descr="/home/claud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532888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942832" y="2423160"/>
            <a:ext cx="244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Duplicate-row leakage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8330184" y="3108960"/>
            <a:ext cx="30266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b="1" dirty="0">
                <a:solidFill>
                  <a:srgbClr val="E059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 </a:t>
            </a:r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near-duplicate flows spanning train/test splits inflate in-dataset scores, a documented CICIDS2017 artifact (Engelen et al., 2021).</a:t>
            </a:r>
            <a:endParaRPr lang="en-US" sz="930" dirty="0"/>
          </a:p>
        </p:txBody>
      </p:sp>
      <p:sp>
        <p:nvSpPr>
          <p:cNvPr id="22" name="Text 17"/>
          <p:cNvSpPr txBox="1"/>
          <p:nvPr/>
        </p:nvSpPr>
        <p:spPr>
          <a:xfrm>
            <a:off x="8330184" y="4709160"/>
            <a:ext cx="30266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 </a:t>
            </a:r>
            <a:pPr indent="0" marL="0">
              <a:lnSpc>
                <a:spcPct val="122000"/>
              </a:lnSpc>
              <a:buNone/>
            </a:pPr>
            <a:r>
              <a:rPr lang="en-US" sz="93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~21% duplicate rows identified and removed pre-split, consistent with the documented rate in the literature.</a:t>
            </a:r>
            <a:endParaRPr lang="en-US" sz="930" dirty="0"/>
          </a:p>
        </p:txBody>
      </p:sp>
      <p:sp>
        <p:nvSpPr>
          <p:cNvPr id="23" name="Text 18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24" name="Text 19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did, why, and what came out of 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3619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Random Forest and XGBoost on CICIDS2017 (in-dataset baseline), then evaluated the identical, unmodified model zero-shot on CICIDS2018, then applied padding + jitter evasion to the 2018 evaluation set.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6245352" y="141732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3952" y="153619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182880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8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work rarely tests beyond a single dataset. Zero-shot cross-dataset transfer is the harder, more realistic test of whether a detector has learned transferable attack behavior versus memorized one capture environment.</a:t>
            </a:r>
            <a:endParaRPr lang="en-US" sz="98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 — GENERALIZATION GAP</a:t>
            </a:r>
            <a:endParaRPr lang="en-US" sz="10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02920" y="3154680"/>
          <a:ext cx="52120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6309360" y="2834640"/>
            <a:ext cx="5376672" cy="1234440"/>
          </a:xfrm>
          <a:prstGeom prst="roundRect">
            <a:avLst>
              <a:gd name="adj" fmla="val 5185"/>
            </a:avLst>
          </a:prstGeom>
          <a:solidFill>
            <a:srgbClr val="FFF4EC"/>
          </a:solidFill>
          <a:ln w="12700">
            <a:solidFill>
              <a:srgbClr val="F3C6A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37960" y="295351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" kern="0" dirty="0">
                <a:solidFill>
                  <a:srgbClr val="9A3B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— near-total collapse, not a gradual drop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3246120"/>
            <a:ext cx="4919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60" dirty="0">
                <a:solidFill>
                  <a:srgbClr val="7A4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on Malicious hits 0.00 cross-dataset. Typical published 2017→2018 drops land at F1 0.4–0.7 — ours is more severe, verified via the checks on the previous slide, and corroborated by Cantone et al. (2024) reporting near-random-chance transfer on this exact pair.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6309360" y="4206240"/>
            <a:ext cx="5376672" cy="12801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37960" y="432511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" kern="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— why the gap happens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4617720"/>
            <a:ext cx="4919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6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distributional shift between CICFlowMeter capture campaigns — flow statistics (packet count, IAT) differ 13×–400× across years. Evasion testing on this baseline is inconclusive (no detection headroom existed pre-perturbation) and is reported as a scoped limitation, not a robustness result.</a:t>
            </a:r>
            <a:endParaRPr lang="en-US" sz="96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inferences, and what happens next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538728" cy="4434840"/>
          </a:xfrm>
          <a:prstGeom prst="roundRect">
            <a:avLst>
              <a:gd name="adj" fmla="val 2067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1746504"/>
            <a:ext cx="457200" cy="4572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6" name="Image 0" descr="/home/claude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56232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76479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58952" y="2478024"/>
            <a:ext cx="64008" cy="64008"/>
          </a:xfrm>
          <a:prstGeom prst="ellipse">
            <a:avLst/>
          </a:prstGeom>
          <a:solidFill>
            <a:srgbClr val="12B5B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41832" y="2368296"/>
            <a:ext cx="2843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7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In-dataset F1 = 0.9971; cross-dataset F1 = 0.0023 — a verified, bug-free result.</a:t>
            </a:r>
            <a:endParaRPr lang="en-US" sz="970" dirty="0"/>
          </a:p>
        </p:txBody>
      </p:sp>
      <p:sp>
        <p:nvSpPr>
          <p:cNvPr id="10" name="Shape 7"/>
          <p:cNvSpPr/>
          <p:nvPr/>
        </p:nvSpPr>
        <p:spPr>
          <a:xfrm>
            <a:off x="758952" y="3621024"/>
            <a:ext cx="64008" cy="64008"/>
          </a:xfrm>
          <a:prstGeom prst="ellipse">
            <a:avLst/>
          </a:prstGeom>
          <a:solidFill>
            <a:srgbClr val="12B5B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41832" y="3511296"/>
            <a:ext cx="2843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7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on Malicious = 0.00 cross-dataset — the model is structurally blind, not just weaker.</a:t>
            </a:r>
            <a:endParaRPr lang="en-US" sz="970" dirty="0"/>
          </a:p>
        </p:txBody>
      </p:sp>
      <p:sp>
        <p:nvSpPr>
          <p:cNvPr id="12" name="Shape 9"/>
          <p:cNvSpPr/>
          <p:nvPr/>
        </p:nvSpPr>
        <p:spPr>
          <a:xfrm>
            <a:off x="758952" y="4764024"/>
            <a:ext cx="64008" cy="64008"/>
          </a:xfrm>
          <a:prstGeom prst="ellipse">
            <a:avLst/>
          </a:prstGeom>
          <a:solidFill>
            <a:srgbClr val="12B5B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41832" y="4654296"/>
            <a:ext cx="2843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7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~21% duplicate-row leakage and label/column mismatches identified and corrected.</a:t>
            </a:r>
            <a:endParaRPr lang="en-US" sz="970" dirty="0"/>
          </a:p>
        </p:txBody>
      </p:sp>
      <p:sp>
        <p:nvSpPr>
          <p:cNvPr id="14" name="Shape 11"/>
          <p:cNvSpPr/>
          <p:nvPr/>
        </p:nvSpPr>
        <p:spPr>
          <a:xfrm>
            <a:off x="4288536" y="1508760"/>
            <a:ext cx="3538728" cy="4434840"/>
          </a:xfrm>
          <a:prstGeom prst="roundRect">
            <a:avLst>
              <a:gd name="adj" fmla="val 2067"/>
            </a:avLst>
          </a:prstGeom>
          <a:solidFill>
            <a:srgbClr val="0B1F3A"/>
          </a:solidFill>
          <a:ln/>
        </p:spPr>
      </p:sp>
      <p:sp>
        <p:nvSpPr>
          <p:cNvPr id="15" name="Shape 12"/>
          <p:cNvSpPr/>
          <p:nvPr/>
        </p:nvSpPr>
        <p:spPr>
          <a:xfrm>
            <a:off x="4544568" y="1746504"/>
            <a:ext cx="457200" cy="4572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16" name="Image 1" descr="/home/claude/icons/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856232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111496" y="176479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544568" y="2478024"/>
            <a:ext cx="64008" cy="64008"/>
          </a:xfrm>
          <a:prstGeom prst="ellipse">
            <a:avLst/>
          </a:prstGeom>
          <a:solidFill>
            <a:srgbClr val="12B5B0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4727448" y="2368296"/>
            <a:ext cx="2843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7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same-dataset accuracy is not evidence of learned attack semantics — it can reflect memorized capture-environment artifacts.</a:t>
            </a:r>
            <a:endParaRPr lang="en-US" sz="970" dirty="0"/>
          </a:p>
        </p:txBody>
      </p:sp>
      <p:sp>
        <p:nvSpPr>
          <p:cNvPr id="20" name="Shape 16"/>
          <p:cNvSpPr/>
          <p:nvPr/>
        </p:nvSpPr>
        <p:spPr>
          <a:xfrm>
            <a:off x="4544568" y="3621024"/>
            <a:ext cx="64008" cy="64008"/>
          </a:xfrm>
          <a:prstGeom prst="ellipse">
            <a:avLst/>
          </a:prstGeom>
          <a:solidFill>
            <a:srgbClr val="12B5B0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727448" y="3511296"/>
            <a:ext cx="2843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7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cross-dataset testing is a materially harder, more realistic bar than single-dataset evaluation, consistent with 2024 literature.</a:t>
            </a:r>
            <a:endParaRPr lang="en-US" sz="970" dirty="0"/>
          </a:p>
        </p:txBody>
      </p:sp>
      <p:sp>
        <p:nvSpPr>
          <p:cNvPr id="22" name="Shape 18"/>
          <p:cNvSpPr/>
          <p:nvPr/>
        </p:nvSpPr>
        <p:spPr>
          <a:xfrm>
            <a:off x="4544568" y="4764024"/>
            <a:ext cx="64008" cy="64008"/>
          </a:xfrm>
          <a:prstGeom prst="ellipse">
            <a:avLst/>
          </a:prstGeom>
          <a:solidFill>
            <a:srgbClr val="12B5B0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727448" y="4654296"/>
            <a:ext cx="2843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7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Evasion robustness cannot be assessed on a detector with no baseline detection headroom.</a:t>
            </a:r>
            <a:endParaRPr lang="en-US" sz="970" dirty="0"/>
          </a:p>
        </p:txBody>
      </p:sp>
      <p:sp>
        <p:nvSpPr>
          <p:cNvPr id="24" name="Shape 20"/>
          <p:cNvSpPr/>
          <p:nvPr/>
        </p:nvSpPr>
        <p:spPr>
          <a:xfrm>
            <a:off x="8074152" y="1508760"/>
            <a:ext cx="3538728" cy="4434840"/>
          </a:xfrm>
          <a:prstGeom prst="roundRect">
            <a:avLst>
              <a:gd name="adj" fmla="val 2067"/>
            </a:avLst>
          </a:prstGeom>
          <a:solidFill>
            <a:srgbClr val="0B1F3A"/>
          </a:solidFill>
          <a:ln/>
        </p:spPr>
      </p:sp>
      <p:sp>
        <p:nvSpPr>
          <p:cNvPr id="25" name="Shape 21"/>
          <p:cNvSpPr/>
          <p:nvPr/>
        </p:nvSpPr>
        <p:spPr>
          <a:xfrm>
            <a:off x="8330184" y="1746504"/>
            <a:ext cx="457200" cy="457200"/>
          </a:xfrm>
          <a:prstGeom prst="ellipse">
            <a:avLst/>
          </a:prstGeom>
          <a:solidFill>
            <a:srgbClr val="16305A"/>
          </a:solidFill>
          <a:ln/>
        </p:spPr>
      </p:sp>
      <p:pic>
        <p:nvPicPr>
          <p:cNvPr id="26" name="Image 2" descr="/home/claude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1856232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897112" y="176479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8330184" y="2478024"/>
            <a:ext cx="64008" cy="64008"/>
          </a:xfrm>
          <a:prstGeom prst="ellipse">
            <a:avLst/>
          </a:prstGeom>
          <a:solidFill>
            <a:srgbClr val="12B5B0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8513064" y="2368296"/>
            <a:ext cx="2843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7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Rate-based feature retrain (Flow Bytes/s vs. Total Fwd Packets) to test scale-sensitivity of the collapse.</a:t>
            </a:r>
            <a:endParaRPr lang="en-US" sz="970" dirty="0"/>
          </a:p>
        </p:txBody>
      </p:sp>
      <p:sp>
        <p:nvSpPr>
          <p:cNvPr id="30" name="Shape 25"/>
          <p:cNvSpPr/>
          <p:nvPr/>
        </p:nvSpPr>
        <p:spPr>
          <a:xfrm>
            <a:off x="8330184" y="3621024"/>
            <a:ext cx="64008" cy="64008"/>
          </a:xfrm>
          <a:prstGeom prst="ellipse">
            <a:avLst/>
          </a:prstGeom>
          <a:solidFill>
            <a:srgbClr val="12B5B0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513064" y="3511296"/>
            <a:ext cx="2843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7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Raw-PCAP pipeline to enable early-flow / first-N-packet detection, out of scope for the current flow-CSV data.</a:t>
            </a:r>
            <a:endParaRPr lang="en-US" sz="970" dirty="0"/>
          </a:p>
        </p:txBody>
      </p:sp>
      <p:sp>
        <p:nvSpPr>
          <p:cNvPr id="32" name="Shape 27"/>
          <p:cNvSpPr/>
          <p:nvPr/>
        </p:nvSpPr>
        <p:spPr>
          <a:xfrm>
            <a:off x="8330184" y="4764024"/>
            <a:ext cx="64008" cy="64008"/>
          </a:xfrm>
          <a:prstGeom prst="ellipse">
            <a:avLst/>
          </a:prstGeom>
          <a:solidFill>
            <a:srgbClr val="12B5B0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513064" y="4654296"/>
            <a:ext cx="2843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7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the verification/leakage-audit script as a small companion artifact alongside the paper.</a:t>
            </a:r>
            <a:endParaRPr lang="en-US" sz="970" dirty="0"/>
          </a:p>
        </p:txBody>
      </p:sp>
      <p:sp>
        <p:nvSpPr>
          <p:cNvPr id="34" name="Text 29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35" name="Text 30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OUTCOME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a peer-reviewed, verifiable publication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83112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pic>
        <p:nvPicPr>
          <p:cNvPr id="5" name="Image 0" descr="/home/claude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7373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OUTCOME  —  Peer-reviewed publication of the verified generalization-collapse finding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21214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C3C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path: submission to arXiv (cs.CR) as an immediate, citable communication checkpoint, in parallel with a full IEEE Access submission — backed by a rigorously verified result, a documented methodology, and a companion verification script others can run against their own pipelines.</a:t>
            </a:r>
            <a:endParaRPr lang="en-US" sz="108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VENUES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3520440"/>
            <a:ext cx="3538728" cy="26060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721608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Access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11480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NEAR-TERM PRIMARY TARGET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480560"/>
            <a:ext cx="3081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8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Fast-turnaround, broad scope, strong fit for a rigorously verified empirical benchmarking contribution.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4288536" y="3520440"/>
            <a:ext cx="3538728" cy="26060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17136" y="3721608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TIFS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17136" y="411480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EXTENDED-SCOPE CANDIDATE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4517136" y="4480560"/>
            <a:ext cx="3081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8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fit for the domain-adaptation / generalization angle if results are extended with the rate-based retrain.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8074152" y="3520440"/>
            <a:ext cx="3538728" cy="2606040"/>
          </a:xfrm>
          <a:prstGeom prst="roundRect">
            <a:avLst>
              <a:gd name="adj" fmla="val 2807"/>
            </a:avLst>
          </a:prstGeom>
          <a:solidFill>
            <a:srgbClr val="F7F9FC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02752" y="3721608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Computers &amp; Security (Elsevier)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302752" y="411480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2E6F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EXTENDED-SCOPE CANDIDATE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8302752" y="4480560"/>
            <a:ext cx="30815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8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security journal with a track record in adversarial robustness and IDS evaluation studies.</a:t>
            </a:r>
            <a:endParaRPr lang="en-US" sz="98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Classification of Encrypted Malicious Traffic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11140135" y="6565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2026-08-27T20:01:33Z</dcterms:created>
  <dcterms:modified xsi:type="dcterms:W3CDTF">2026-08-27T20:01:33Z</dcterms:modified>
</cp:coreProperties>
</file>