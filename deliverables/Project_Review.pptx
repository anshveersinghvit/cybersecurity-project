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1.xml" ContentType="application/vnd.openxmlformats-officedocument.drawingml.chart+xml"/>
  <Override PartName="/ppt/notesSlides/notesSlide15.xml" ContentType="application/vnd.openxmlformats-officedocument.presentationml.notesSlide+xml"/>
  <Override PartName="/ppt/charts/chart2.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3.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rts/chart4.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itle" id="{60801C18-371C-80C1-4480-71442EC24910}">
          <p14:sldIdLst>
            <p14:sldId id="256"/>
          </p14:sldIdLst>
        </p14:section>
        <p14:section name="Outline" id="{926ED403-6220-6E81-329F-403FB5465402}">
          <p14:sldIdLst>
            <p14:sldId id="257"/>
          </p14:sldIdLst>
        </p14:section>
        <p14:section name="1. Introduction" id="{012C41FF-EF9A-689B-9AA7-B9E2913CE53F}">
          <p14:sldIdLst>
            <p14:sldId id="258"/>
            <p14:sldId id="259"/>
          </p14:sldIdLst>
        </p14:section>
        <p14:section name="2. Project Description and Goals" id="{ABF763EE-B42E-8E10-647E-DF1E1C47F0CA}">
          <p14:sldIdLst>
            <p14:sldId id="260"/>
            <p14:sldId id="261"/>
            <p14:sldId id="262"/>
          </p14:sldIdLst>
        </p14:section>
        <p14:section name="3. Technical Specification" id="{137CAC36-5A52-8A4E-857B-0EFE76789259}">
          <p14:sldIdLst>
            <p14:sldId id="263"/>
            <p14:sldId id="264"/>
          </p14:sldIdLst>
        </p14:section>
        <p14:section name="4. Design Approach and Details" id="{DD122434-8AD6-72EE-B01E-877271E96135}">
          <p14:sldIdLst>
            <p14:sldId id="265"/>
            <p14:sldId id="266"/>
            <p14:sldId id="267"/>
          </p14:sldIdLst>
        </p14:section>
        <p14:section name="5. Experimental Setup and Output" id="{A3479E50-6A76-A3EC-C43F-7D2E0DC96B70}">
          <p14:sldIdLst>
            <p14:sldId id="268"/>
            <p14:sldId id="269"/>
            <p14:sldId id="270"/>
            <p14:sldId id="271"/>
            <p14:sldId id="272"/>
            <p14:sldId id="273"/>
            <p14:sldId id="274"/>
            <p14:sldId id="275"/>
            <p14:sldId id="276"/>
            <p14:sldId id="277"/>
          </p14:sldIdLst>
        </p14:section>
        <p14:section name="6. Result Analysis" id="{312ABE32-DDDD-A90A-AFF0-926A3A666E7F}">
          <p14:sldIdLst>
            <p14:sldId id="278"/>
            <p14:sldId id="279"/>
          </p14:sldIdLst>
        </p14:section>
        <p14:section name="7. Conclusion and Future Works" id="{7413A509-FF78-D242-3EDD-7F4805DEEE26}">
          <p14:sldIdLst>
            <p14:sldId id="280"/>
          </p14:sldIdLst>
        </p14:section>
        <p14:section name="8. References" id="{F37D4686-BE02-46D2-08A5-4684738B7A51}">
          <p14:sldIdLst>
            <p14:sldId id="281"/>
          </p14:sldIdLst>
        </p14:section>
        <p14:section name="Close" id="{BB38E4CD-144A-6A27-2865-232F07051EF2}">
          <p14:sldIdLst>
            <p14:sldId id="28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lineChart>
        <c:grouping val="standard"/>
        <c:varyColors val="0"/>
        <c:ser>
          <c:idx val="0"/>
          <c:order val="0"/>
          <c:tx>
            <c:strRef>
              <c:f>Sheet1!$B$1</c:f>
              <c:strCache>
                <c:ptCount val="1"/>
                <c:pt idx="0">
                  <c:v>Stage-1 malicious F1</c:v>
                </c:pt>
              </c:strCache>
            </c:strRef>
          </c:tx>
          <c:spPr>
            <a:ln>
              <a:noFill/>
            </a:ln>
            <a:effectLst/>
          </c:spPr>
          <c:marker>
            <c:symbol val="circle"/>
            <c:size val="11"/>
            <c:spPr>
              <a:solidFill>
                <a:srgbClr val="2A78D6"/>
              </a:solidFill>
              <a:ln w="9525" cap="flat">
                <a:solidFill>
                  <a:srgbClr val="2A78D6"/>
                </a:solidFill>
                <a:prstDash val="solid"/>
                <a:round/>
              </a:ln>
              <a:effectLst/>
            </c:spPr>
          </c:marker>
          <c:cat>
            <c:strRef>
              <c:f>Sheet1!$A$2:$A$8</c:f>
              <c:strCache>
                <c:ptCount val="7"/>
                <c:pt idx="0">
                  <c:v>Random</c:v>
                </c:pt>
                <c:pt idx="1">
                  <c:v>Flow-ID</c:v>
                </c:pt>
                <c:pt idx="2">
                  <c:v>1-min blocks</c:v>
                </c:pt>
                <c:pt idx="3">
                  <c:v>5-min blocks</c:v>
                </c:pt>
                <c:pt idx="4">
                  <c:v>15-min blocks</c:v>
                </c:pt>
                <c:pt idx="5">
                  <c:v>Chron. (time)</c:v>
                </c:pt>
                <c:pt idx="6">
                  <c:v>Chron. (rows)</c:v>
                </c:pt>
              </c:strCache>
            </c:strRef>
          </c:cat>
          <c:val>
            <c:numRef>
              <c:f>Sheet1!$B$2:$B$8</c:f>
              <c:numCache>
                <c:formatCode>General</c:formatCode>
                <c:ptCount val="7"/>
                <c:pt idx="0">
                  <c:v>0.99660000000000004</c:v>
                </c:pt>
                <c:pt idx="1">
                  <c:v>0.99650000000000005</c:v>
                </c:pt>
                <c:pt idx="2">
                  <c:v>0.99270000000000003</c:v>
                </c:pt>
                <c:pt idx="3">
                  <c:v>0.99529999999999996</c:v>
                </c:pt>
                <c:pt idx="4">
                  <c:v>0.99539999999999995</c:v>
                </c:pt>
                <c:pt idx="5">
                  <c:v>0.90329999999999999</c:v>
                </c:pt>
                <c:pt idx="6">
                  <c:v>0.90259999999999996</c:v>
                </c:pt>
              </c:numCache>
            </c:numRef>
          </c:val>
          <c:smooth val="0"/>
          <c:extLst>
            <c:ext xmlns:c16="http://schemas.microsoft.com/office/drawing/2014/chart" uri="{C3380CC4-5D6E-409C-BE32-E72D297353CC}">
              <c16:uniqueId val="{00000000-3EA9-45BF-ADCB-3F9ADD8D87AF}"/>
            </c:ext>
          </c:extLst>
        </c:ser>
        <c:ser>
          <c:idx val="1"/>
          <c:order val="1"/>
          <c:tx>
            <c:strRef>
              <c:f>Sheet1!$C$1</c:f>
              <c:strCache>
                <c:ptCount val="1"/>
                <c:pt idx="0">
                  <c:v>Family macro-F1 (true attacks)</c:v>
                </c:pt>
              </c:strCache>
            </c:strRef>
          </c:tx>
          <c:spPr>
            <a:ln>
              <a:noFill/>
            </a:ln>
            <a:effectLst/>
          </c:spPr>
          <c:marker>
            <c:symbol val="circle"/>
            <c:size val="11"/>
            <c:spPr>
              <a:solidFill>
                <a:srgbClr val="EB6834"/>
              </a:solidFill>
              <a:ln w="9525" cap="flat">
                <a:solidFill>
                  <a:srgbClr val="EB6834"/>
                </a:solidFill>
                <a:prstDash val="solid"/>
                <a:round/>
              </a:ln>
              <a:effectLst/>
            </c:spPr>
          </c:marker>
          <c:cat>
            <c:strRef>
              <c:f>Sheet1!$A$2:$A$8</c:f>
              <c:strCache>
                <c:ptCount val="7"/>
                <c:pt idx="0">
                  <c:v>Random</c:v>
                </c:pt>
                <c:pt idx="1">
                  <c:v>Flow-ID</c:v>
                </c:pt>
                <c:pt idx="2">
                  <c:v>1-min blocks</c:v>
                </c:pt>
                <c:pt idx="3">
                  <c:v>5-min blocks</c:v>
                </c:pt>
                <c:pt idx="4">
                  <c:v>15-min blocks</c:v>
                </c:pt>
                <c:pt idx="5">
                  <c:v>Chron. (time)</c:v>
                </c:pt>
                <c:pt idx="6">
                  <c:v>Chron. (rows)</c:v>
                </c:pt>
              </c:strCache>
            </c:strRef>
          </c:cat>
          <c:val>
            <c:numRef>
              <c:f>Sheet1!$C$2:$C$8</c:f>
              <c:numCache>
                <c:formatCode>General</c:formatCode>
                <c:ptCount val="7"/>
                <c:pt idx="0">
                  <c:v>0.96709999999999996</c:v>
                </c:pt>
                <c:pt idx="1">
                  <c:v>0.97040000000000004</c:v>
                </c:pt>
                <c:pt idx="2">
                  <c:v>0.97270000000000001</c:v>
                </c:pt>
                <c:pt idx="3">
                  <c:v>0.96799999999999997</c:v>
                </c:pt>
                <c:pt idx="4">
                  <c:v>0.95609999999999995</c:v>
                </c:pt>
                <c:pt idx="5">
                  <c:v>0.8397</c:v>
                </c:pt>
                <c:pt idx="6">
                  <c:v>0.83589999999999998</c:v>
                </c:pt>
              </c:numCache>
            </c:numRef>
          </c:val>
          <c:smooth val="0"/>
          <c:extLst>
            <c:ext xmlns:c16="http://schemas.microsoft.com/office/drawing/2014/chart" uri="{C3380CC4-5D6E-409C-BE32-E72D297353CC}">
              <c16:uniqueId val="{00000001-3EA9-45BF-ADCB-3F9ADD8D87AF}"/>
            </c:ext>
          </c:extLst>
        </c:ser>
        <c:ser>
          <c:idx val="2"/>
          <c:order val="2"/>
          <c:tx>
            <c:strRef>
              <c:f>Sheet1!$D$1</c:f>
              <c:strCache>
                <c:ptCount val="1"/>
                <c:pt idx="0">
                  <c:v>End-to-end family macro-F1</c:v>
                </c:pt>
              </c:strCache>
            </c:strRef>
          </c:tx>
          <c:spPr>
            <a:ln>
              <a:noFill/>
            </a:ln>
            <a:effectLst/>
          </c:spPr>
          <c:marker>
            <c:symbol val="circle"/>
            <c:size val="11"/>
            <c:spPr>
              <a:solidFill>
                <a:srgbClr val="1BAF7A"/>
              </a:solidFill>
              <a:ln w="9525" cap="flat">
                <a:solidFill>
                  <a:srgbClr val="1BAF7A"/>
                </a:solidFill>
                <a:prstDash val="solid"/>
                <a:round/>
              </a:ln>
              <a:effectLst/>
            </c:spPr>
          </c:marker>
          <c:cat>
            <c:strRef>
              <c:f>Sheet1!$A$2:$A$8</c:f>
              <c:strCache>
                <c:ptCount val="7"/>
                <c:pt idx="0">
                  <c:v>Random</c:v>
                </c:pt>
                <c:pt idx="1">
                  <c:v>Flow-ID</c:v>
                </c:pt>
                <c:pt idx="2">
                  <c:v>1-min blocks</c:v>
                </c:pt>
                <c:pt idx="3">
                  <c:v>5-min blocks</c:v>
                </c:pt>
                <c:pt idx="4">
                  <c:v>15-min blocks</c:v>
                </c:pt>
                <c:pt idx="5">
                  <c:v>Chron. (time)</c:v>
                </c:pt>
                <c:pt idx="6">
                  <c:v>Chron. (rows)</c:v>
                </c:pt>
              </c:strCache>
            </c:strRef>
          </c:cat>
          <c:val>
            <c:numRef>
              <c:f>Sheet1!$D$2:$D$8</c:f>
              <c:numCache>
                <c:formatCode>General</c:formatCode>
                <c:ptCount val="7"/>
                <c:pt idx="0">
                  <c:v>0.92269999999999996</c:v>
                </c:pt>
                <c:pt idx="1">
                  <c:v>0.92720000000000002</c:v>
                </c:pt>
                <c:pt idx="2">
                  <c:v>0.92410000000000003</c:v>
                </c:pt>
                <c:pt idx="3">
                  <c:v>0.91469999999999996</c:v>
                </c:pt>
                <c:pt idx="4">
                  <c:v>0.88370000000000004</c:v>
                </c:pt>
                <c:pt idx="5">
                  <c:v>0.77090000000000003</c:v>
                </c:pt>
                <c:pt idx="6">
                  <c:v>0.78169999999999995</c:v>
                </c:pt>
              </c:numCache>
            </c:numRef>
          </c:val>
          <c:smooth val="0"/>
          <c:extLst>
            <c:ext xmlns:c16="http://schemas.microsoft.com/office/drawing/2014/chart" uri="{C3380CC4-5D6E-409C-BE32-E72D297353CC}">
              <c16:uniqueId val="{00000002-3EA9-45BF-ADCB-3F9ADD8D87AF}"/>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lblOffset val="100"/>
        <c:noMultiLvlLbl val="1"/>
      </c:catAx>
      <c:valAx>
        <c:axId val="2094734552"/>
        <c:scaling>
          <c:orientation val="minMax"/>
          <c:max val="1"/>
          <c:min val="0.75"/>
        </c:scaling>
        <c:delete val="0"/>
        <c:axPos val="l"/>
        <c:majorGridlines>
          <c:spPr>
            <a:ln w="9525" cap="flat">
              <a:solidFill>
                <a:srgbClr val="E1E0D9"/>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0.05"/>
      </c:valAx>
      <c:spPr>
        <a:noFill/>
        <a:ln>
          <a:noFill/>
        </a:ln>
        <a:effectLst/>
      </c:spPr>
    </c:plotArea>
    <c:legend>
      <c:legendPos val="b"/>
      <c:overlay val="0"/>
      <c:txPr>
        <a:bodyPr/>
        <a:lstStyle/>
        <a:p>
          <a:pPr>
            <a:defRPr sz="11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2514E"/>
                </a:solidFill>
                <a:latin typeface="+mn-lt"/>
              </a:defRPr>
            </a:pPr>
            <a:r>
              <a:rPr lang="en-IN" sz="1300" b="0" i="0" u="none" strike="noStrike">
                <a:solidFill>
                  <a:srgbClr val="52514E"/>
                </a:solidFill>
                <a:latin typeface="+mn-lt"/>
              </a:rPr>
              <a:t>Benign false-positive rate (%)</a:t>
            </a:r>
          </a:p>
        </c:rich>
      </c:tx>
      <c:overlay val="0"/>
    </c:title>
    <c:autoTitleDeleted val="0"/>
    <c:plotArea>
      <c:layout/>
      <c:barChart>
        <c:barDir val="col"/>
        <c:grouping val="clustered"/>
        <c:varyColors val="0"/>
        <c:ser>
          <c:idx val="0"/>
          <c:order val="0"/>
          <c:tx>
            <c:strRef>
              <c:f>Sheet1!$B$1</c:f>
              <c:strCache>
                <c:ptCount val="1"/>
                <c:pt idx="0">
                  <c:v>Benign false-positive rate (%)</c:v>
                </c:pt>
              </c:strCache>
            </c:strRef>
          </c:tx>
          <c:spPr>
            <a:solidFill>
              <a:srgbClr val="2A78D6"/>
            </a:solidFill>
            <a:effectLst/>
          </c:spPr>
          <c:invertIfNegative val="0"/>
          <c:dLbls>
            <c:numFmt formatCode="0.00&quot;%&quot;" sourceLinked="0"/>
            <c:spPr>
              <a:noFill/>
              <a:ln>
                <a:noFill/>
              </a:ln>
              <a:effectLst/>
            </c:spPr>
            <c:txPr>
              <a:bodyPr/>
              <a:lstStyle/>
              <a:p>
                <a:pPr>
                  <a:defRPr sz="1200" b="0" i="0" u="none" strike="noStrike">
                    <a:solidFill>
                      <a:srgbClr val="1A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Random</c:v>
                </c:pt>
                <c:pt idx="1">
                  <c:v>5-min blocks</c:v>
                </c:pt>
                <c:pt idx="2">
                  <c:v>Chronological</c:v>
                </c:pt>
              </c:strCache>
            </c:strRef>
          </c:cat>
          <c:val>
            <c:numRef>
              <c:f>Sheet1!$B$2:$B$4</c:f>
              <c:numCache>
                <c:formatCode>General</c:formatCode>
                <c:ptCount val="3"/>
                <c:pt idx="0">
                  <c:v>6.7000000000000004E-2</c:v>
                </c:pt>
                <c:pt idx="1">
                  <c:v>6.5000000000000002E-2</c:v>
                </c:pt>
                <c:pt idx="2">
                  <c:v>2.899</c:v>
                </c:pt>
              </c:numCache>
            </c:numRef>
          </c:val>
          <c:extLst>
            <c:ext xmlns:c16="http://schemas.microsoft.com/office/drawing/2014/chart" uri="{C3380CC4-5D6E-409C-BE32-E72D297353CC}">
              <c16:uniqueId val="{00000000-6D6B-4701-9025-A38B71DED709}"/>
            </c:ext>
          </c:extLst>
        </c:ser>
        <c:dLbls>
          <c:showLegendKey val="0"/>
          <c:showVal val="1"/>
          <c:showCatName val="0"/>
          <c:showSerName val="0"/>
          <c:showPercent val="0"/>
          <c:showBubbleSize val="0"/>
        </c:dLbls>
        <c:gapWidth val="12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lblOffset val="100"/>
        <c:noMultiLvlLbl val="1"/>
      </c:catAx>
      <c:valAx>
        <c:axId val="2094734552"/>
        <c:scaling>
          <c:orientation val="minMax"/>
          <c:max val="3.5"/>
          <c:min val="0"/>
        </c:scaling>
        <c:delete val="0"/>
        <c:axPos val="l"/>
        <c:majorGridlines>
          <c:spPr>
            <a:ln w="9525" cap="flat">
              <a:solidFill>
                <a:srgbClr val="E1E0D9"/>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Train 2017, test 2017</c:v>
                </c:pt>
              </c:strCache>
            </c:strRef>
          </c:tx>
          <c:spPr>
            <a:solidFill>
              <a:srgbClr val="2A78D6"/>
            </a:solidFill>
            <a:effectLst/>
          </c:spPr>
          <c:invertIfNegative val="0"/>
          <c:dLbls>
            <c:numFmt formatCode="0.00" sourceLinked="0"/>
            <c:spPr>
              <a:noFill/>
              <a:ln>
                <a:noFill/>
              </a:ln>
              <a:effectLst/>
            </c:spPr>
            <c:txPr>
              <a:bodyPr/>
              <a:lstStyle/>
              <a:p>
                <a:pPr>
                  <a:defRPr sz="1100" b="0" i="0" u="none" strike="noStrike">
                    <a:solidFill>
                      <a:srgbClr val="1A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DoS/DDoS recall</c:v>
                </c:pt>
                <c:pt idx="1">
                  <c:v>Web Attack recall</c:v>
                </c:pt>
                <c:pt idx="2">
                  <c:v>End-to-end macro-F1</c:v>
                </c:pt>
              </c:strCache>
            </c:strRef>
          </c:cat>
          <c:val>
            <c:numRef>
              <c:f>Sheet1!$B$2:$B$4</c:f>
              <c:numCache>
                <c:formatCode>General</c:formatCode>
                <c:ptCount val="3"/>
                <c:pt idx="0">
                  <c:v>0.94299999999999995</c:v>
                </c:pt>
                <c:pt idx="1">
                  <c:v>0.93700000000000006</c:v>
                </c:pt>
                <c:pt idx="2">
                  <c:v>0.94899999999999995</c:v>
                </c:pt>
              </c:numCache>
            </c:numRef>
          </c:val>
          <c:extLst>
            <c:ext xmlns:c16="http://schemas.microsoft.com/office/drawing/2014/chart" uri="{C3380CC4-5D6E-409C-BE32-E72D297353CC}">
              <c16:uniqueId val="{00000000-4CF4-45E8-88CA-66A866ECBFA8}"/>
            </c:ext>
          </c:extLst>
        </c:ser>
        <c:ser>
          <c:idx val="1"/>
          <c:order val="1"/>
          <c:tx>
            <c:strRef>
              <c:f>Sheet1!$C$1</c:f>
              <c:strCache>
                <c:ptCount val="1"/>
                <c:pt idx="0">
                  <c:v>Train 2017, test 2018</c:v>
                </c:pt>
              </c:strCache>
            </c:strRef>
          </c:tx>
          <c:spPr>
            <a:solidFill>
              <a:srgbClr val="EB6834"/>
            </a:solidFill>
            <a:effectLst/>
          </c:spPr>
          <c:invertIfNegative val="0"/>
          <c:dLbls>
            <c:numFmt formatCode="0.00" sourceLinked="0"/>
            <c:spPr>
              <a:noFill/>
              <a:ln>
                <a:noFill/>
              </a:ln>
              <a:effectLst/>
            </c:spPr>
            <c:txPr>
              <a:bodyPr/>
              <a:lstStyle/>
              <a:p>
                <a:pPr>
                  <a:defRPr sz="1100" b="0" i="0" u="none" strike="noStrike">
                    <a:solidFill>
                      <a:srgbClr val="1A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DoS/DDoS recall</c:v>
                </c:pt>
                <c:pt idx="1">
                  <c:v>Web Attack recall</c:v>
                </c:pt>
                <c:pt idx="2">
                  <c:v>End-to-end macro-F1</c:v>
                </c:pt>
              </c:strCache>
            </c:strRef>
          </c:cat>
          <c:val>
            <c:numRef>
              <c:f>Sheet1!$C$2:$C$4</c:f>
              <c:numCache>
                <c:formatCode>General</c:formatCode>
                <c:ptCount val="3"/>
                <c:pt idx="0">
                  <c:v>0</c:v>
                </c:pt>
                <c:pt idx="1">
                  <c:v>1.0999999999999999E-2</c:v>
                </c:pt>
                <c:pt idx="2">
                  <c:v>0.32200000000000001</c:v>
                </c:pt>
              </c:numCache>
            </c:numRef>
          </c:val>
          <c:extLst>
            <c:ext xmlns:c16="http://schemas.microsoft.com/office/drawing/2014/chart" uri="{C3380CC4-5D6E-409C-BE32-E72D297353CC}">
              <c16:uniqueId val="{00000001-4CF4-45E8-88CA-66A866ECBFA8}"/>
            </c:ext>
          </c:extLst>
        </c:ser>
        <c:ser>
          <c:idx val="2"/>
          <c:order val="2"/>
          <c:tx>
            <c:strRef>
              <c:f>Sheet1!$D$1</c:f>
              <c:strCache>
                <c:ptCount val="1"/>
                <c:pt idx="0">
                  <c:v>Train 2018, test 2018</c:v>
                </c:pt>
              </c:strCache>
            </c:strRef>
          </c:tx>
          <c:spPr>
            <a:solidFill>
              <a:srgbClr val="1BAF7A"/>
            </a:solidFill>
            <a:effectLst/>
          </c:spPr>
          <c:invertIfNegative val="0"/>
          <c:dLbls>
            <c:numFmt formatCode="0.00" sourceLinked="0"/>
            <c:spPr>
              <a:noFill/>
              <a:ln>
                <a:noFill/>
              </a:ln>
              <a:effectLst/>
            </c:spPr>
            <c:txPr>
              <a:bodyPr/>
              <a:lstStyle/>
              <a:p>
                <a:pPr>
                  <a:defRPr sz="1100" b="0" i="0" u="none" strike="noStrike">
                    <a:solidFill>
                      <a:srgbClr val="1A1A1A"/>
                    </a:solidFill>
                    <a:latin typeface="+mn-lt"/>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DoS/DDoS recall</c:v>
                </c:pt>
                <c:pt idx="1">
                  <c:v>Web Attack recall</c:v>
                </c:pt>
                <c:pt idx="2">
                  <c:v>End-to-end macro-F1</c:v>
                </c:pt>
              </c:strCache>
            </c:strRef>
          </c:cat>
          <c:val>
            <c:numRef>
              <c:f>Sheet1!$D$2:$D$4</c:f>
              <c:numCache>
                <c:formatCode>General</c:formatCode>
                <c:ptCount val="3"/>
                <c:pt idx="0">
                  <c:v>1</c:v>
                </c:pt>
                <c:pt idx="1">
                  <c:v>0.76500000000000001</c:v>
                </c:pt>
                <c:pt idx="2">
                  <c:v>0.94799999999999995</c:v>
                </c:pt>
              </c:numCache>
            </c:numRef>
          </c:val>
          <c:extLst>
            <c:ext xmlns:c16="http://schemas.microsoft.com/office/drawing/2014/chart" uri="{C3380CC4-5D6E-409C-BE32-E72D297353CC}">
              <c16:uniqueId val="{00000002-4CF4-45E8-88CA-66A866ECBFA8}"/>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lblOffset val="100"/>
        <c:noMultiLvlLbl val="1"/>
      </c:catAx>
      <c:valAx>
        <c:axId val="2094734552"/>
        <c:scaling>
          <c:orientation val="minMax"/>
          <c:max val="1.1000000000000001"/>
          <c:min val="0"/>
        </c:scaling>
        <c:delete val="0"/>
        <c:axPos val="l"/>
        <c:majorGridlines>
          <c:spPr>
            <a:ln w="9525" cap="flat">
              <a:solidFill>
                <a:srgbClr val="E1E0D9"/>
              </a:solidFill>
              <a:prstDash val="solid"/>
              <a:round/>
            </a:ln>
          </c:spPr>
        </c:majorGridlines>
        <c:numFmt formatCode="0.0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1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52514E"/>
                </a:solidFill>
                <a:latin typeface="+mn-lt"/>
              </a:defRPr>
            </a:pPr>
            <a:r>
              <a:rPr lang="en-US" sz="1300" b="0" i="0" u="none" strike="noStrike">
                <a:solidFill>
                  <a:srgbClr val="52514E"/>
                </a:solidFill>
                <a:latin typeface="+mn-lt"/>
              </a:rPr>
              <a:t>End-to-end macro-F1 on 2018 (same-year reference 0.949)</a:t>
            </a:r>
          </a:p>
        </c:rich>
      </c:tx>
      <c:overlay val="0"/>
    </c:title>
    <c:autoTitleDeleted val="0"/>
    <c:plotArea>
      <c:layout/>
      <c:lineChart>
        <c:grouping val="standard"/>
        <c:varyColors val="0"/>
        <c:ser>
          <c:idx val="0"/>
          <c:order val="0"/>
          <c:tx>
            <c:strRef>
              <c:f>Sheet1!$B$1</c:f>
              <c:strCache>
                <c:ptCount val="1"/>
                <c:pt idx="0">
                  <c:v>Random forest (3 seeds)</c:v>
                </c:pt>
              </c:strCache>
            </c:strRef>
          </c:tx>
          <c:spPr>
            <a:ln>
              <a:noFill/>
            </a:ln>
            <a:effectLst/>
          </c:spPr>
          <c:marker>
            <c:symbol val="circle"/>
            <c:size val="11"/>
            <c:spPr>
              <a:solidFill>
                <a:srgbClr val="2A78D6"/>
              </a:solidFill>
              <a:ln w="9525" cap="flat">
                <a:solidFill>
                  <a:srgbClr val="2A78D6"/>
                </a:solidFill>
                <a:prstDash val="solid"/>
                <a:round/>
              </a:ln>
              <a:effectLst/>
            </c:spPr>
          </c:marker>
          <c:cat>
            <c:strRef>
              <c:f>Sheet1!$A$2:$A$7</c:f>
              <c:strCache>
                <c:ptCount val="6"/>
                <c:pt idx="0">
                  <c:v>None</c:v>
                </c:pt>
                <c:pt idx="1">
                  <c:v>Signed log</c:v>
                </c:pt>
                <c:pt idx="2">
                  <c:v>Robust scaling</c:v>
                </c:pt>
                <c:pt idx="3">
                  <c:v>Quantile</c:v>
                </c:pt>
                <c:pt idx="4">
                  <c:v>Drop 10</c:v>
                </c:pt>
                <c:pt idx="5">
                  <c:v>Drop 25</c:v>
                </c:pt>
              </c:strCache>
            </c:strRef>
          </c:cat>
          <c:val>
            <c:numRef>
              <c:f>Sheet1!$B$2:$B$7</c:f>
              <c:numCache>
                <c:formatCode>General</c:formatCode>
                <c:ptCount val="6"/>
                <c:pt idx="0">
                  <c:v>0.316</c:v>
                </c:pt>
                <c:pt idx="1">
                  <c:v>0.316</c:v>
                </c:pt>
                <c:pt idx="2">
                  <c:v>0.315</c:v>
                </c:pt>
                <c:pt idx="3">
                  <c:v>0.314</c:v>
                </c:pt>
                <c:pt idx="4">
                  <c:v>0.31900000000000001</c:v>
                </c:pt>
                <c:pt idx="5">
                  <c:v>0.316</c:v>
                </c:pt>
              </c:numCache>
            </c:numRef>
          </c:val>
          <c:smooth val="0"/>
          <c:extLst>
            <c:ext xmlns:c16="http://schemas.microsoft.com/office/drawing/2014/chart" uri="{C3380CC4-5D6E-409C-BE32-E72D297353CC}">
              <c16:uniqueId val="{00000000-8E2E-4881-8657-BA4E79EA9C5E}"/>
            </c:ext>
          </c:extLst>
        </c:ser>
        <c:ser>
          <c:idx val="1"/>
          <c:order val="1"/>
          <c:tx>
            <c:strRef>
              <c:f>Sheet1!$C$1</c:f>
              <c:strCache>
                <c:ptCount val="1"/>
                <c:pt idx="0">
                  <c:v>XGBoost (1 seed)</c:v>
                </c:pt>
              </c:strCache>
            </c:strRef>
          </c:tx>
          <c:spPr>
            <a:ln>
              <a:noFill/>
            </a:ln>
            <a:effectLst/>
          </c:spPr>
          <c:marker>
            <c:symbol val="circle"/>
            <c:size val="11"/>
            <c:spPr>
              <a:solidFill>
                <a:srgbClr val="EB6834"/>
              </a:solidFill>
              <a:ln w="9525" cap="flat">
                <a:solidFill>
                  <a:srgbClr val="EB6834"/>
                </a:solidFill>
                <a:prstDash val="solid"/>
                <a:round/>
              </a:ln>
              <a:effectLst/>
            </c:spPr>
          </c:marker>
          <c:cat>
            <c:strRef>
              <c:f>Sheet1!$A$2:$A$7</c:f>
              <c:strCache>
                <c:ptCount val="6"/>
                <c:pt idx="0">
                  <c:v>None</c:v>
                </c:pt>
                <c:pt idx="1">
                  <c:v>Signed log</c:v>
                </c:pt>
                <c:pt idx="2">
                  <c:v>Robust scaling</c:v>
                </c:pt>
                <c:pt idx="3">
                  <c:v>Quantile</c:v>
                </c:pt>
                <c:pt idx="4">
                  <c:v>Drop 10</c:v>
                </c:pt>
                <c:pt idx="5">
                  <c:v>Drop 25</c:v>
                </c:pt>
              </c:strCache>
            </c:strRef>
          </c:cat>
          <c:val>
            <c:numRef>
              <c:f>Sheet1!$C$2:$C$7</c:f>
              <c:numCache>
                <c:formatCode>General</c:formatCode>
                <c:ptCount val="6"/>
                <c:pt idx="0">
                  <c:v>0.375</c:v>
                </c:pt>
                <c:pt idx="1">
                  <c:v>0.375</c:v>
                </c:pt>
                <c:pt idx="2">
                  <c:v>0.315</c:v>
                </c:pt>
                <c:pt idx="3">
                  <c:v>0.374</c:v>
                </c:pt>
                <c:pt idx="4">
                  <c:v>0.46600000000000003</c:v>
                </c:pt>
                <c:pt idx="5">
                  <c:v>0.377</c:v>
                </c:pt>
              </c:numCache>
            </c:numRef>
          </c:val>
          <c:smooth val="0"/>
          <c:extLst>
            <c:ext xmlns:c16="http://schemas.microsoft.com/office/drawing/2014/chart" uri="{C3380CC4-5D6E-409C-BE32-E72D297353CC}">
              <c16:uniqueId val="{00000001-8E2E-4881-8657-BA4E79EA9C5E}"/>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C3C2B7"/>
            </a:solidFill>
            <a:prstDash val="solid"/>
            <a:round/>
          </a:ln>
        </c:spPr>
        <c:txPr>
          <a:bodyPr/>
          <a:lstStyle/>
          <a:p>
            <a:pPr>
              <a:defRPr sz="1100" b="0" i="0" u="none" strike="noStrike">
                <a:solidFill>
                  <a:srgbClr val="52514E"/>
                </a:solidFill>
                <a:latin typeface="+mn-lt"/>
              </a:defRPr>
            </a:pPr>
            <a:endParaRPr lang="en-US"/>
          </a:p>
        </c:txPr>
        <c:crossAx val="2094734552"/>
        <c:crosses val="autoZero"/>
        <c:auto val="1"/>
        <c:lblAlgn val="ctr"/>
        <c:lblOffset val="100"/>
        <c:noMultiLvlLbl val="1"/>
      </c:catAx>
      <c:valAx>
        <c:axId val="2094734552"/>
        <c:scaling>
          <c:orientation val="minMax"/>
          <c:max val="1"/>
          <c:min val="0"/>
        </c:scaling>
        <c:delete val="0"/>
        <c:axPos val="l"/>
        <c:majorGridlines>
          <c:spPr>
            <a:ln w="9525" cap="flat">
              <a:solidFill>
                <a:srgbClr val="E1E0D9"/>
              </a:solidFill>
              <a:prstDash val="solid"/>
              <a:round/>
            </a:ln>
          </c:spPr>
        </c:majorGridlines>
        <c:numFmt formatCode="0.0" sourceLinked="0"/>
        <c:majorTickMark val="out"/>
        <c:minorTickMark val="none"/>
        <c:tickLblPos val="nextTo"/>
        <c:spPr>
          <a:ln w="12700" cap="flat">
            <a:noFill/>
            <a:prstDash val="solid"/>
            <a:round/>
          </a:ln>
        </c:spPr>
        <c:txPr>
          <a:bodyPr/>
          <a:lstStyle/>
          <a:p>
            <a:pPr>
              <a:defRPr sz="1100" b="0" i="0" u="none" strike="noStrike">
                <a:solidFill>
                  <a:srgbClr val="52514E"/>
                </a:solidFill>
                <a:latin typeface="+mn-lt"/>
              </a:defRPr>
            </a:pPr>
            <a:endParaRPr lang="en-US"/>
          </a:p>
        </c:txPr>
        <c:crossAx val="2094734554"/>
        <c:crosses val="autoZero"/>
        <c:crossBetween val="between"/>
        <c:majorUnit val="0.2"/>
      </c:valAx>
      <c:spPr>
        <a:noFill/>
        <a:ln>
          <a:noFill/>
        </a:ln>
        <a:effectLst/>
      </c:spPr>
    </c:plotArea>
    <c:legend>
      <c:legendPos val="b"/>
      <c:overlay val="0"/>
      <c:txPr>
        <a:bodyPr/>
        <a:lstStyle/>
        <a:p>
          <a:pPr>
            <a:defRPr sz="1100">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4189106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review. The project evaluates how much of the near-perfect performance reported for flow-based intrusion detectors survives stricter evaluation protocols, and what the errors that appear under those protocols consist of.</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Background and motivation. Flow statistics survive encryption. Benchmarks report near-perfect scores, but audits found errors and cross-dataset studies report failure. Our earlier phase saw 0.997 F1 in-dataset and 0.002 cross-dataset, which had to be explained.</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is in and out of scope. Mitigations restricted to label-free transformations.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 papers reviewed in the report. Key ones on the slide. Each leaves part of the evaluation question open.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gaps; the problem statement has four parts, all judged against a seed noise floor.</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SMART objectives; Gantt chart from mid-July to mid-October 2026.</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Functional requirements define the evaluation system; non-functional ones make results reproducible and trustworthy.</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data, open-source stack, CPU-only laptop; total compute a few hours.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layers; each consumes only the layers above. Integrity audit and evaluation protocols are the components varied in the experiments.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Hash every vector, build the conflict set, resolve with a policy, split per label, train two stages, score three views over seeds. The feature-order assertion rules out a column permutation that would mimic dataset shift.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diagnostics: unit identities, per-feature KS, adversarial validation. Then six transformations that use no 2018 labels, scored by the share of the gap they recover.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 after cleaning and the eight experiments. Timestamps verified: both 2017 releases agree on 100% of rows.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Grouped splits remove correlated records but keep training and test periods interleaved. Only the per-class chronological splits, by timestamp and by row order, lower the scores. Values are means of two seeds.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Precision falls from 0.996 to 0.856; recall from 0.997 to 0.956. Holding recall fixed, precision alone gives F1 0.921. FPR rises about 44-fold. PortScan is the exception: its recall drops already under 5-minute grouping, an adjacency effect. The next two slides examine the split and its false positives.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chronological split cuts each class at its own time. It is therefore not a simulation of deployment after a fixed date: training flows of one class can be later than test flows of another. A single global cutoff would leave almost every attack class on one side only, because each attack runs in one interval of minutes to hours.</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Seed 42, both protocols reproduced exactly. 98.8% of the chronological false positives lie on two endpoint sets. The DDoS ones run from the victim back to the attacker during the 20-minute attack; every DDoS-labelled flow runs the other way. The Bot ones are infected hosts talking to the C&amp;C server on port 8080 after the last Bot-labelled flow. The random split keeps most of these flows in training under their benign labels and learns them. With them removed from both test sets the false-positive rates are equal. The sets were found from the errors they explain, so this is a diagnostic, not a corrected benchmark.</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309 vectors carry conflicting labels, all involving benign traffic. Duplication is concentrated in probing attacks. Policy choice changes binary F1 by under 0.004 on a common test set but reshapes the test population.</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2 on true attacks looks perfect for Bot; end to end it inherits Stage-1 false positives. Web brute force and XSS are hard to separate even under a random split.</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Same-year reference 0.949; transfer 0.322; 2018-trained model 0.949. Without deduplication malicious F1 is 0.0087 and SlowHTTPTest recall 0.000 over 139,890 rows. Reverse direction fails too.</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Unit identities hold in both years, so no unit mismatch. Benign shifts mildly; DoS Hulk shifts strongly on backward-direction features. The features that separate Hulk from benign in 2017 are absent in most 2018 Hulk flows.</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Random forest over three seeds recovers at most 0.5% of the gap. XGBoost with 10 features dropped recovers 15.5% (one seed), still with DoS recall 0. The globally shifted features are benign-driven; the Hulk-specific ones rank 35–46 and were never dropped.</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Decomposition summary. Exact duplicates, sessions and minute blocks: at most 0.004 malicious F1. The per-class chronological split costs 0.09 F1 and multiplies false positives by 44, which would ordinarily be read as drift. The audit shows that almost all of those false positives are benign-labelled flows of two attack sessions. After removing them from both protocols, the gap is 0.020 F1, entirely recall, mostly the last 11 minutes of DoS Hulk.</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Settings differ, so this compares evaluation coverage and the direction of findings. Our transfer result is more severe than Cantone et al.; deduplication does not explain it; the attack-subset explanation is plausible but untested.</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five directions for future work. The central one: the chronological gap on CICIDS2017 is mainly a label artefact, so a time-aware split needs an audit of its errors before its drop is called drift.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list of 25 references in the report.</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4213D"/>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1094415" cy="1737360"/>
          </a:xfrm>
          <a:prstGeom prst="rect">
            <a:avLst/>
          </a:prstGeom>
          <a:noFill/>
          <a:ln/>
        </p:spPr>
        <p:txBody>
          <a:bodyPr wrap="square" rtlCol="0"/>
          <a:lstStyle>
            <a:lvl1pPr marL="0" indent="0" algn="l">
              <a:buNone/>
              <a:defRPr lang="en-US" sz="4000" b="1" dirty="0">
                <a:solidFill>
                  <a:schemeClr val="bg1"/>
                </a:solidFill>
                <a:latin typeface="Cambria" pitchFamily="34" charset="0"/>
                <a:ea typeface="Cambria" pitchFamily="34" charset="-122"/>
                <a:cs typeface="Cambria" pitchFamily="34" charset="-120"/>
              </a:defRPr>
            </a:lvl1pPr>
          </a:lstStyle>
          <a:p>
            <a:pPr marL="0" indent="0" algn="l">
              <a:buNone/>
            </a:pPr>
            <a:endParaRPr lang="en-US" sz="4000" dirty="0"/>
          </a:p>
        </p:txBody>
      </p:sp>
      <p:sp>
        <p:nvSpPr>
          <p:cNvPr id="3" name="Text 0"/>
          <p:cNvSpPr>
            <a:spLocks noGrp="1"/>
          </p:cNvSpPr>
          <p:nvPr>
            <p:ph type="body" idx="101" hasCustomPrompt="1"/>
          </p:nvPr>
        </p:nvSpPr>
        <p:spPr>
          <a:xfrm>
            <a:off x="548640" y="3749040"/>
            <a:ext cx="11094415" cy="2377440"/>
          </a:xfrm>
          <a:prstGeom prst="rect">
            <a:avLst/>
          </a:prstGeom>
          <a:noFill/>
          <a:ln/>
        </p:spPr>
        <p:txBody>
          <a:bodyPr wrap="square" rtlCol="0"/>
          <a:lstStyle>
            <a:lvl1pPr marL="0" indent="0">
              <a:buNone/>
              <a:defRPr lang="en-US" sz="1800" dirty="0">
                <a:solidFill>
                  <a:schemeClr val="bg2"/>
                </a:solidFill>
                <a:latin typeface="Calibri" pitchFamily="34" charset="0"/>
                <a:ea typeface="Calibri" pitchFamily="34" charset="-122"/>
                <a:cs typeface="Calibri" pitchFamily="34" charset="-120"/>
              </a:defRPr>
            </a:lvl1pPr>
          </a:lstStyle>
          <a:p>
            <a:pPr marL="0" indent="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58368"/>
            <a:ext cx="11094415" cy="777240"/>
          </a:xfrm>
          <a:prstGeom prst="rect">
            <a:avLst/>
          </a:prstGeom>
          <a:noFill/>
          <a:ln/>
        </p:spPr>
        <p:txBody>
          <a:bodyPr wrap="square" rtlCol="0"/>
          <a:lstStyle>
            <a:lvl1pPr marL="0" indent="0" algn="l">
              <a:buNone/>
              <a:defRPr lang="en-US" sz="3200" b="1" dirty="0">
                <a:solidFill>
                  <a:schemeClr val="tx2"/>
                </a:solidFill>
                <a:latin typeface="Cambria" pitchFamily="34" charset="0"/>
                <a:ea typeface="Cambria" pitchFamily="34" charset="-122"/>
                <a:cs typeface="Cambria" pitchFamily="34" charset="-120"/>
              </a:defRPr>
            </a:lvl1pPr>
          </a:lstStyle>
          <a:p>
            <a:pPr marL="0" indent="0" algn="l">
              <a:buNone/>
            </a:pPr>
            <a:endParaRPr lang="en-US" sz="3200" dirty="0"/>
          </a:p>
        </p:txBody>
      </p:sp>
      <p:sp>
        <p:nvSpPr>
          <p:cNvPr id="3" name="Text 0"/>
          <p:cNvSpPr/>
          <p:nvPr/>
        </p:nvSpPr>
        <p:spPr>
          <a:xfrm>
            <a:off x="548640" y="6446520"/>
            <a:ext cx="7315200" cy="274320"/>
          </a:xfrm>
          <a:prstGeom prst="rect">
            <a:avLst/>
          </a:prstGeom>
          <a:noFill/>
          <a:ln/>
        </p:spPr>
        <p:txBody>
          <a:bodyPr wrap="square" lIns="0" tIns="0" rIns="0" bIns="0" rtlCol="0" anchor="ctr"/>
          <a:lstStyle/>
          <a:p>
            <a:pPr marL="0" indent="0">
              <a:buNone/>
            </a:pPr>
            <a:r>
              <a:rPr lang="en-US" sz="1000" dirty="0">
                <a:solidFill>
                  <a:srgbClr val="898781"/>
                </a:solidFill>
                <a:latin typeface="Calibri" pitchFamily="34" charset="0"/>
                <a:ea typeface="Calibri" pitchFamily="34" charset="-122"/>
                <a:cs typeface="Calibri" pitchFamily="34" charset="-120"/>
              </a:rPr>
              <a:t>Behavioral Classification of Encrypted Malicious Network Traffic</a:t>
            </a:r>
            <a:endParaRPr lang="en-US" sz="10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21.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1094415" cy="1737360"/>
          </a:xfrm>
          <a:prstGeom prst="rect">
            <a:avLst/>
          </a:prstGeom>
          <a:noFill/>
          <a:ln/>
        </p:spPr>
        <p:txBody>
          <a:bodyPr wrap="square" rtlCol="0" anchor="b"/>
          <a:lstStyle/>
          <a:p>
            <a:pPr marL="0" indent="0" algn="l">
              <a:buNone/>
            </a:pPr>
            <a:r>
              <a:rPr lang="en-US" sz="4000" b="1" dirty="0">
                <a:solidFill>
                  <a:schemeClr val="bg1"/>
                </a:solidFill>
                <a:latin typeface="Cambria" pitchFamily="34" charset="0"/>
                <a:ea typeface="Cambria" pitchFamily="34" charset="-122"/>
                <a:cs typeface="Cambria" pitchFamily="34" charset="-120"/>
              </a:rPr>
              <a:t>Behavioral Classification of Encrypted Malicious Network Traffic Using Flow-Based Metadata</a:t>
            </a:r>
            <a:endParaRPr lang="en-US" sz="4000" dirty="0"/>
          </a:p>
        </p:txBody>
      </p:sp>
      <p:sp>
        <p:nvSpPr>
          <p:cNvPr id="3" name="Text 0"/>
          <p:cNvSpPr>
            <a:spLocks noGrp="1"/>
          </p:cNvSpPr>
          <p:nvPr>
            <p:ph type="body" idx="101" hasCustomPrompt="1"/>
          </p:nvPr>
        </p:nvSpPr>
        <p:spPr>
          <a:xfrm>
            <a:off x="548640" y="3749040"/>
            <a:ext cx="11094415" cy="2377440"/>
          </a:xfrm>
          <a:prstGeom prst="rect">
            <a:avLst/>
          </a:prstGeom>
          <a:noFill/>
          <a:ln/>
        </p:spPr>
        <p:txBody>
          <a:bodyPr wrap="square" rtlCol="0" anchor="t"/>
          <a:lstStyle/>
          <a:p>
            <a:pPr marL="0" indent="0">
              <a:buNone/>
            </a:pPr>
            <a:r>
              <a:rPr lang="en-US" sz="1800" i="1" dirty="0">
                <a:solidFill>
                  <a:schemeClr val="bg2"/>
                </a:solidFill>
                <a:latin typeface="Calibri" pitchFamily="34" charset="0"/>
                <a:ea typeface="Calibri" pitchFamily="34" charset="-122"/>
                <a:cs typeface="Calibri" pitchFamily="34" charset="-120"/>
              </a:rPr>
              <a:t>A leakage-aware evaluation of flow-based intrusion detection on CICIDS2017 and CSE-CIC-IDS2018</a:t>
            </a:r>
            <a:endParaRPr lang="en-US" sz="1800" dirty="0"/>
          </a:p>
          <a:p>
            <a:pPr marL="0" indent="0">
              <a:buNone/>
            </a:pPr>
            <a:r>
              <a:rPr lang="en-US" sz="1000" dirty="0">
                <a:solidFill>
                  <a:schemeClr val="bg2"/>
                </a:solidFill>
                <a:latin typeface="Calibri" pitchFamily="34" charset="0"/>
                <a:ea typeface="Calibri" pitchFamily="34" charset="-122"/>
                <a:cs typeface="Calibri" pitchFamily="34" charset="-120"/>
              </a:rPr>
              <a:t> </a:t>
            </a:r>
            <a:endParaRPr lang="en-US" sz="1800" dirty="0"/>
          </a:p>
          <a:p>
            <a:r>
              <a:rPr lang="en-US" dirty="0"/>
              <a:t>Anshveer Singh (23BCE0703) </a:t>
            </a:r>
            <a:r>
              <a:rPr lang="en-US" sz="1800" dirty="0">
                <a:solidFill>
                  <a:schemeClr val="bg2"/>
                </a:solidFill>
                <a:latin typeface="Calibri" pitchFamily="34" charset="0"/>
                <a:ea typeface="Calibri" pitchFamily="34" charset="-122"/>
                <a:cs typeface="Calibri" pitchFamily="34" charset="-120"/>
              </a:rPr>
              <a:t>· </a:t>
            </a:r>
            <a:r>
              <a:rPr lang="en-US" dirty="0"/>
              <a:t>Gaurav Bakshi (23BCE0546)</a:t>
            </a:r>
            <a:r>
              <a:rPr lang="en-US" sz="1800" dirty="0">
                <a:solidFill>
                  <a:schemeClr val="bg2"/>
                </a:solidFill>
                <a:latin typeface="Calibri" pitchFamily="34" charset="0"/>
                <a:ea typeface="Calibri" pitchFamily="34" charset="-122"/>
                <a:cs typeface="Calibri" pitchFamily="34" charset="-120"/>
              </a:rPr>
              <a:t>  ·   Dev Acharya Menon (23BCE0717)</a:t>
            </a:r>
            <a:endParaRPr lang="en-US" sz="1800" dirty="0"/>
          </a:p>
          <a:p>
            <a:pPr marL="0" indent="0">
              <a:buNone/>
            </a:pPr>
            <a:r>
              <a:rPr lang="en-US" sz="1800" dirty="0">
                <a:solidFill>
                  <a:schemeClr val="bg2"/>
                </a:solidFill>
                <a:latin typeface="Calibri" pitchFamily="34" charset="0"/>
                <a:ea typeface="Calibri" pitchFamily="34" charset="-122"/>
                <a:cs typeface="Calibri" pitchFamily="34" charset="-120"/>
              </a:rPr>
              <a:t>Supervisor: Dr Anto S   ·   BCSE410L Cyber Security Project   ·   SCOPE, VIT   ·   October 2026</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Outline</a:t>
            </a:r>
            <a:endParaRPr lang="en-US" sz="3200" dirty="0"/>
          </a:p>
        </p:txBody>
      </p:sp>
      <p:sp>
        <p:nvSpPr>
          <p:cNvPr id="3" name="outline circle 1"/>
          <p:cNvSpPr/>
          <p:nvPr/>
        </p:nvSpPr>
        <p:spPr>
          <a:xfrm>
            <a:off x="548640" y="1737360"/>
            <a:ext cx="640080" cy="640080"/>
          </a:xfrm>
          <a:prstGeom prst="ellipse">
            <a:avLst/>
          </a:prstGeom>
          <a:solidFill>
            <a:schemeClr val="tx2"/>
          </a:solidFill>
          <a:ln w="12700">
            <a:solidFill>
              <a:schemeClr val="tx2"/>
            </a:solidFill>
            <a:prstDash val="solid"/>
          </a:ln>
        </p:spPr>
        <p:txBody>
          <a:bodyPr/>
          <a:lstStyle/>
          <a:p>
            <a:endParaRPr lang="en-IN"/>
          </a:p>
        </p:txBody>
      </p:sp>
      <p:sp>
        <p:nvSpPr>
          <p:cNvPr id="4" name="outline number 1"/>
          <p:cNvSpPr txBox="1"/>
          <p:nvPr/>
        </p:nvSpPr>
        <p:spPr>
          <a:xfrm>
            <a:off x="548640" y="173736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1</a:t>
            </a:r>
            <a:endParaRPr lang="en-US" sz="2000" dirty="0"/>
          </a:p>
        </p:txBody>
      </p:sp>
      <p:sp>
        <p:nvSpPr>
          <p:cNvPr id="5" name="outline item 1"/>
          <p:cNvSpPr txBox="1"/>
          <p:nvPr/>
        </p:nvSpPr>
        <p:spPr>
          <a:xfrm>
            <a:off x="1371600" y="1737360"/>
            <a:ext cx="4572000" cy="64008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Introduction</a:t>
            </a:r>
            <a:endParaRPr lang="en-US" sz="2000" dirty="0"/>
          </a:p>
        </p:txBody>
      </p:sp>
      <p:sp>
        <p:nvSpPr>
          <p:cNvPr id="6" name="outline circle 2"/>
          <p:cNvSpPr/>
          <p:nvPr/>
        </p:nvSpPr>
        <p:spPr>
          <a:xfrm>
            <a:off x="548640" y="2788920"/>
            <a:ext cx="640080" cy="640080"/>
          </a:xfrm>
          <a:prstGeom prst="ellipse">
            <a:avLst/>
          </a:prstGeom>
          <a:solidFill>
            <a:schemeClr val="accent1"/>
          </a:solidFill>
          <a:ln w="12700">
            <a:solidFill>
              <a:schemeClr val="accent1"/>
            </a:solidFill>
            <a:prstDash val="solid"/>
          </a:ln>
        </p:spPr>
        <p:txBody>
          <a:bodyPr/>
          <a:lstStyle/>
          <a:p>
            <a:endParaRPr lang="en-IN"/>
          </a:p>
        </p:txBody>
      </p:sp>
      <p:sp>
        <p:nvSpPr>
          <p:cNvPr id="7" name="outline number 2"/>
          <p:cNvSpPr txBox="1"/>
          <p:nvPr/>
        </p:nvSpPr>
        <p:spPr>
          <a:xfrm>
            <a:off x="548640" y="278892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2</a:t>
            </a:r>
            <a:endParaRPr lang="en-US" sz="2000" dirty="0"/>
          </a:p>
        </p:txBody>
      </p:sp>
      <p:sp>
        <p:nvSpPr>
          <p:cNvPr id="8" name="outline item 2"/>
          <p:cNvSpPr txBox="1"/>
          <p:nvPr/>
        </p:nvSpPr>
        <p:spPr>
          <a:xfrm>
            <a:off x="1371600" y="2788920"/>
            <a:ext cx="4572000" cy="64008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Project Description and Goals</a:t>
            </a:r>
            <a:endParaRPr lang="en-US" sz="2000" dirty="0"/>
          </a:p>
        </p:txBody>
      </p:sp>
      <p:sp>
        <p:nvSpPr>
          <p:cNvPr id="9" name="outline circle 3"/>
          <p:cNvSpPr/>
          <p:nvPr/>
        </p:nvSpPr>
        <p:spPr>
          <a:xfrm>
            <a:off x="548640" y="3840480"/>
            <a:ext cx="640080" cy="640080"/>
          </a:xfrm>
          <a:prstGeom prst="ellipse">
            <a:avLst/>
          </a:prstGeom>
          <a:solidFill>
            <a:schemeClr val="tx2"/>
          </a:solidFill>
          <a:ln w="12700">
            <a:solidFill>
              <a:schemeClr val="tx2"/>
            </a:solidFill>
            <a:prstDash val="solid"/>
          </a:ln>
        </p:spPr>
        <p:txBody>
          <a:bodyPr/>
          <a:lstStyle/>
          <a:p>
            <a:endParaRPr lang="en-IN"/>
          </a:p>
        </p:txBody>
      </p:sp>
      <p:sp>
        <p:nvSpPr>
          <p:cNvPr id="10" name="outline number 3"/>
          <p:cNvSpPr txBox="1"/>
          <p:nvPr/>
        </p:nvSpPr>
        <p:spPr>
          <a:xfrm>
            <a:off x="548640" y="384048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3</a:t>
            </a:r>
            <a:endParaRPr lang="en-US" sz="2000" dirty="0"/>
          </a:p>
        </p:txBody>
      </p:sp>
      <p:sp>
        <p:nvSpPr>
          <p:cNvPr id="11" name="outline item 3"/>
          <p:cNvSpPr txBox="1"/>
          <p:nvPr/>
        </p:nvSpPr>
        <p:spPr>
          <a:xfrm>
            <a:off x="1371600" y="3840480"/>
            <a:ext cx="4572000" cy="64008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Technical Specification</a:t>
            </a:r>
            <a:endParaRPr lang="en-US" sz="2000" dirty="0"/>
          </a:p>
        </p:txBody>
      </p:sp>
      <p:sp>
        <p:nvSpPr>
          <p:cNvPr id="12" name="outline circle 4"/>
          <p:cNvSpPr/>
          <p:nvPr/>
        </p:nvSpPr>
        <p:spPr>
          <a:xfrm>
            <a:off x="548640" y="4892040"/>
            <a:ext cx="640080" cy="640080"/>
          </a:xfrm>
          <a:prstGeom prst="ellipse">
            <a:avLst/>
          </a:prstGeom>
          <a:solidFill>
            <a:schemeClr val="accent1"/>
          </a:solidFill>
          <a:ln w="12700">
            <a:solidFill>
              <a:schemeClr val="accent1"/>
            </a:solidFill>
            <a:prstDash val="solid"/>
          </a:ln>
        </p:spPr>
        <p:txBody>
          <a:bodyPr/>
          <a:lstStyle/>
          <a:p>
            <a:endParaRPr lang="en-IN"/>
          </a:p>
        </p:txBody>
      </p:sp>
      <p:sp>
        <p:nvSpPr>
          <p:cNvPr id="13" name="outline number 4"/>
          <p:cNvSpPr txBox="1"/>
          <p:nvPr/>
        </p:nvSpPr>
        <p:spPr>
          <a:xfrm>
            <a:off x="548640" y="489204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4</a:t>
            </a:r>
            <a:endParaRPr lang="en-US" sz="2000" dirty="0"/>
          </a:p>
        </p:txBody>
      </p:sp>
      <p:sp>
        <p:nvSpPr>
          <p:cNvPr id="14" name="outline item 4"/>
          <p:cNvSpPr txBox="1"/>
          <p:nvPr/>
        </p:nvSpPr>
        <p:spPr>
          <a:xfrm>
            <a:off x="1371600" y="4892040"/>
            <a:ext cx="4572000" cy="64008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Design Approach and Details</a:t>
            </a:r>
            <a:endParaRPr lang="en-US" sz="2000" dirty="0"/>
          </a:p>
        </p:txBody>
      </p:sp>
      <p:sp>
        <p:nvSpPr>
          <p:cNvPr id="15" name="outline circle 5"/>
          <p:cNvSpPr/>
          <p:nvPr/>
        </p:nvSpPr>
        <p:spPr>
          <a:xfrm>
            <a:off x="6217920" y="1737360"/>
            <a:ext cx="640080" cy="640080"/>
          </a:xfrm>
          <a:prstGeom prst="ellipse">
            <a:avLst/>
          </a:prstGeom>
          <a:solidFill>
            <a:schemeClr val="tx2"/>
          </a:solidFill>
          <a:ln w="12700">
            <a:solidFill>
              <a:schemeClr val="tx2"/>
            </a:solidFill>
            <a:prstDash val="solid"/>
          </a:ln>
        </p:spPr>
        <p:txBody>
          <a:bodyPr/>
          <a:lstStyle/>
          <a:p>
            <a:endParaRPr lang="en-IN"/>
          </a:p>
        </p:txBody>
      </p:sp>
      <p:sp>
        <p:nvSpPr>
          <p:cNvPr id="16" name="outline number 5"/>
          <p:cNvSpPr txBox="1"/>
          <p:nvPr/>
        </p:nvSpPr>
        <p:spPr>
          <a:xfrm>
            <a:off x="6217920" y="173736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5</a:t>
            </a:r>
            <a:endParaRPr lang="en-US" sz="2000" dirty="0"/>
          </a:p>
        </p:txBody>
      </p:sp>
      <p:sp>
        <p:nvSpPr>
          <p:cNvPr id="17" name="outline item 5"/>
          <p:cNvSpPr txBox="1"/>
          <p:nvPr/>
        </p:nvSpPr>
        <p:spPr>
          <a:xfrm>
            <a:off x="7040880" y="1737360"/>
            <a:ext cx="4572000" cy="64008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Experimental Setup and Output</a:t>
            </a:r>
            <a:endParaRPr lang="en-US" sz="2000" dirty="0"/>
          </a:p>
        </p:txBody>
      </p:sp>
      <p:sp>
        <p:nvSpPr>
          <p:cNvPr id="18" name="outline circle 6"/>
          <p:cNvSpPr/>
          <p:nvPr/>
        </p:nvSpPr>
        <p:spPr>
          <a:xfrm>
            <a:off x="6217920" y="2788920"/>
            <a:ext cx="640080" cy="640080"/>
          </a:xfrm>
          <a:prstGeom prst="ellipse">
            <a:avLst/>
          </a:prstGeom>
          <a:solidFill>
            <a:schemeClr val="accent1"/>
          </a:solidFill>
          <a:ln w="12700">
            <a:solidFill>
              <a:schemeClr val="accent1"/>
            </a:solidFill>
            <a:prstDash val="solid"/>
          </a:ln>
        </p:spPr>
        <p:txBody>
          <a:bodyPr/>
          <a:lstStyle/>
          <a:p>
            <a:endParaRPr lang="en-IN"/>
          </a:p>
        </p:txBody>
      </p:sp>
      <p:sp>
        <p:nvSpPr>
          <p:cNvPr id="19" name="outline number 6"/>
          <p:cNvSpPr txBox="1"/>
          <p:nvPr/>
        </p:nvSpPr>
        <p:spPr>
          <a:xfrm>
            <a:off x="6217920" y="278892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6</a:t>
            </a:r>
            <a:endParaRPr lang="en-US" sz="2000" dirty="0"/>
          </a:p>
        </p:txBody>
      </p:sp>
      <p:sp>
        <p:nvSpPr>
          <p:cNvPr id="20" name="outline item 6"/>
          <p:cNvSpPr txBox="1"/>
          <p:nvPr/>
        </p:nvSpPr>
        <p:spPr>
          <a:xfrm>
            <a:off x="7040880" y="2788920"/>
            <a:ext cx="4572000" cy="64008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Result Analysis</a:t>
            </a:r>
            <a:endParaRPr lang="en-US" sz="2000" dirty="0"/>
          </a:p>
        </p:txBody>
      </p:sp>
      <p:sp>
        <p:nvSpPr>
          <p:cNvPr id="21" name="outline circle 7"/>
          <p:cNvSpPr/>
          <p:nvPr/>
        </p:nvSpPr>
        <p:spPr>
          <a:xfrm>
            <a:off x="6217920" y="3840480"/>
            <a:ext cx="640080" cy="640080"/>
          </a:xfrm>
          <a:prstGeom prst="ellipse">
            <a:avLst/>
          </a:prstGeom>
          <a:solidFill>
            <a:schemeClr val="tx2"/>
          </a:solidFill>
          <a:ln w="12700">
            <a:solidFill>
              <a:schemeClr val="tx2"/>
            </a:solidFill>
            <a:prstDash val="solid"/>
          </a:ln>
        </p:spPr>
        <p:txBody>
          <a:bodyPr/>
          <a:lstStyle/>
          <a:p>
            <a:endParaRPr lang="en-IN"/>
          </a:p>
        </p:txBody>
      </p:sp>
      <p:sp>
        <p:nvSpPr>
          <p:cNvPr id="22" name="outline number 7"/>
          <p:cNvSpPr txBox="1"/>
          <p:nvPr/>
        </p:nvSpPr>
        <p:spPr>
          <a:xfrm>
            <a:off x="6217920" y="384048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7</a:t>
            </a:r>
            <a:endParaRPr lang="en-US" sz="2000" dirty="0"/>
          </a:p>
        </p:txBody>
      </p:sp>
      <p:sp>
        <p:nvSpPr>
          <p:cNvPr id="23" name="outline item 7"/>
          <p:cNvSpPr txBox="1"/>
          <p:nvPr/>
        </p:nvSpPr>
        <p:spPr>
          <a:xfrm>
            <a:off x="7040880" y="3840480"/>
            <a:ext cx="4572000" cy="64008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Conclusion and Future Works</a:t>
            </a:r>
            <a:endParaRPr lang="en-US" sz="2000" dirty="0"/>
          </a:p>
        </p:txBody>
      </p:sp>
      <p:sp>
        <p:nvSpPr>
          <p:cNvPr id="24" name="outline circle 8"/>
          <p:cNvSpPr/>
          <p:nvPr/>
        </p:nvSpPr>
        <p:spPr>
          <a:xfrm>
            <a:off x="6217920" y="4892040"/>
            <a:ext cx="640080" cy="640080"/>
          </a:xfrm>
          <a:prstGeom prst="ellipse">
            <a:avLst/>
          </a:prstGeom>
          <a:solidFill>
            <a:schemeClr val="accent1"/>
          </a:solidFill>
          <a:ln w="12700">
            <a:solidFill>
              <a:schemeClr val="accent1"/>
            </a:solidFill>
            <a:prstDash val="solid"/>
          </a:ln>
        </p:spPr>
        <p:txBody>
          <a:bodyPr/>
          <a:lstStyle/>
          <a:p>
            <a:endParaRPr lang="en-IN"/>
          </a:p>
        </p:txBody>
      </p:sp>
      <p:sp>
        <p:nvSpPr>
          <p:cNvPr id="25" name="outline number 8"/>
          <p:cNvSpPr txBox="1"/>
          <p:nvPr/>
        </p:nvSpPr>
        <p:spPr>
          <a:xfrm>
            <a:off x="6217920" y="4892040"/>
            <a:ext cx="640080" cy="640080"/>
          </a:xfrm>
          <a:prstGeom prst="rect">
            <a:avLst/>
          </a:prstGeom>
          <a:noFill/>
          <a:ln/>
        </p:spPr>
        <p:txBody>
          <a:bodyPr wrap="square" lIns="0" tIns="0" rIns="0" bIns="0" rtlCol="0" anchor="ctr"/>
          <a:lstStyle/>
          <a:p>
            <a:pPr marL="0" indent="0" algn="ctr">
              <a:buNone/>
            </a:pPr>
            <a:r>
              <a:rPr lang="en-US" sz="2000" b="1" dirty="0">
                <a:solidFill>
                  <a:schemeClr val="bg1"/>
                </a:solidFill>
                <a:latin typeface="Cambria" pitchFamily="34" charset="0"/>
                <a:ea typeface="Cambria" pitchFamily="34" charset="-122"/>
                <a:cs typeface="Cambria" pitchFamily="34" charset="-120"/>
              </a:rPr>
              <a:t>8</a:t>
            </a:r>
            <a:endParaRPr lang="en-US" sz="2000" dirty="0"/>
          </a:p>
        </p:txBody>
      </p:sp>
      <p:sp>
        <p:nvSpPr>
          <p:cNvPr id="26" name="outline item 8"/>
          <p:cNvSpPr txBox="1"/>
          <p:nvPr/>
        </p:nvSpPr>
        <p:spPr>
          <a:xfrm>
            <a:off x="7040880" y="4892040"/>
            <a:ext cx="4572000" cy="640080"/>
          </a:xfrm>
          <a:prstGeom prst="rect">
            <a:avLst/>
          </a:prstGeom>
          <a:noFill/>
          <a:ln/>
        </p:spPr>
        <p:txBody>
          <a:bodyPr wrap="square" lIns="0" tIns="0" rIns="0" bIns="0" rtlCol="0" anchor="ctr"/>
          <a:lstStyle/>
          <a:p>
            <a:pPr marL="0" indent="0">
              <a:buNone/>
            </a:pPr>
            <a:r>
              <a:rPr lang="en-US" sz="2000" dirty="0">
                <a:solidFill>
                  <a:schemeClr val="tx1"/>
                </a:solidFill>
                <a:latin typeface="Calibri" pitchFamily="34" charset="0"/>
                <a:ea typeface="Calibri" pitchFamily="34" charset="-122"/>
                <a:cs typeface="Calibri" pitchFamily="34" charset="-120"/>
              </a:rPr>
              <a:t>References</a:t>
            </a:r>
            <a:endParaRPr lang="en-US" sz="2000" dirty="0"/>
          </a:p>
        </p:txBody>
      </p:sp>
      <p:sp>
        <p:nvSpPr>
          <p:cNvPr id="27"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01</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INTRODUCTION</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Flow metadata remains observable under encryption</a:t>
            </a:r>
            <a:endParaRPr lang="en-US" sz="3200" dirty="0"/>
          </a:p>
        </p:txBody>
      </p:sp>
      <p:sp>
        <p:nvSpPr>
          <p:cNvPr id="7" name="body text"/>
          <p:cNvSpPr txBox="1"/>
          <p:nvPr/>
        </p:nvSpPr>
        <p:spPr>
          <a:xfrm>
            <a:off x="548640" y="1691640"/>
            <a:ext cx="6583680" cy="4389120"/>
          </a:xfrm>
          <a:prstGeom prst="rect">
            <a:avLst/>
          </a:prstGeom>
          <a:noFill/>
          <a:ln/>
        </p:spPr>
        <p:txBody>
          <a:bodyPr wrap="square" lIns="635" tIns="635" rIns="635" bIns="635" rtlCol="0" anchor="t"/>
          <a:lstStyle/>
          <a:p>
            <a:pPr marL="228600" indent="-2286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Payload inspection of encrypted sessions requires TLS interception, which breaks end-to-end confidentiality</a:t>
            </a:r>
            <a:endParaRPr lang="en-US" sz="1600" dirty="0"/>
          </a:p>
          <a:p>
            <a:pPr marL="228600" indent="-2286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A flow (addresses, ports, protocol, timeout) is summarised by CICFlowMeter into about 80 statistics: packet lengths, inter-arrival times, flags, directional ratios</a:t>
            </a:r>
            <a:endParaRPr lang="en-US" sz="1600" dirty="0"/>
          </a:p>
          <a:p>
            <a:pPr marL="228600" indent="-2286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Tree ensembles exceed 99% accuracy on CICIDS2017, yet audits document label errors and duplicated records</a:t>
            </a:r>
            <a:endParaRPr lang="en-US" sz="1600" dirty="0"/>
          </a:p>
          <a:p>
            <a:pPr marL="228600" indent="-228600">
              <a:spcAft>
                <a:spcPts val="800"/>
              </a:spcAft>
              <a:buSzPct val="100000"/>
              <a:buChar char="•"/>
            </a:pPr>
            <a:r>
              <a:rPr lang="en-US" sz="1600" dirty="0">
                <a:solidFill>
                  <a:schemeClr val="tx1"/>
                </a:solidFill>
                <a:latin typeface="Calibri" pitchFamily="34" charset="0"/>
                <a:ea typeface="Calibri" pitchFamily="34" charset="-122"/>
                <a:cs typeface="Calibri" pitchFamily="34" charset="-120"/>
              </a:rPr>
              <a:t>Open question: does the reported performance survive stricter evaluation, and what do the errors that appear consist of?</a:t>
            </a:r>
            <a:endParaRPr lang="en-US" sz="1600" dirty="0"/>
          </a:p>
        </p:txBody>
      </p:sp>
      <p:sp>
        <p:nvSpPr>
          <p:cNvPr id="8" name="card Starting point (Review II)"/>
          <p:cNvSpPr/>
          <p:nvPr/>
        </p:nvSpPr>
        <p:spPr>
          <a:xfrm>
            <a:off x="7589520" y="1691640"/>
            <a:ext cx="4023360" cy="4206240"/>
          </a:xfrm>
          <a:prstGeom prst="roundRect">
            <a:avLst>
              <a:gd name="adj" fmla="val 1818"/>
            </a:avLst>
          </a:prstGeom>
          <a:solidFill>
            <a:srgbClr val="F3F5F9"/>
          </a:solidFill>
          <a:ln w="12700">
            <a:solidFill>
              <a:srgbClr val="F3F5F9"/>
            </a:solidFill>
            <a:prstDash val="solid"/>
          </a:ln>
        </p:spPr>
        <p:txBody>
          <a:bodyPr/>
          <a:lstStyle/>
          <a:p>
            <a:endParaRPr lang="en-IN"/>
          </a:p>
        </p:txBody>
      </p:sp>
      <p:sp>
        <p:nvSpPr>
          <p:cNvPr id="9" name="card head Starting point (Review II)"/>
          <p:cNvSpPr txBox="1"/>
          <p:nvPr/>
        </p:nvSpPr>
        <p:spPr>
          <a:xfrm>
            <a:off x="7772400" y="1828800"/>
            <a:ext cx="3657600"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Starting point (Review II)</a:t>
            </a:r>
            <a:endParaRPr lang="en-US" sz="1800" dirty="0"/>
          </a:p>
        </p:txBody>
      </p:sp>
      <p:sp>
        <p:nvSpPr>
          <p:cNvPr id="10" name="card body Starting point (Review II)"/>
          <p:cNvSpPr txBox="1"/>
          <p:nvPr/>
        </p:nvSpPr>
        <p:spPr>
          <a:xfrm>
            <a:off x="7772400" y="2286000"/>
            <a:ext cx="3657600" cy="3474720"/>
          </a:xfrm>
          <a:prstGeom prst="rect">
            <a:avLst/>
          </a:prstGeom>
          <a:noFill/>
          <a:ln/>
        </p:spPr>
        <p:txBody>
          <a:bodyPr wrap="square" lIns="0" tIns="0" rIns="0" bIns="0" rtlCol="0" anchor="t"/>
          <a:lstStyle/>
          <a:p>
            <a:pPr marL="0" indent="0">
              <a:buNone/>
            </a:pPr>
            <a:endParaRPr lang="en-US" sz="1400" dirty="0"/>
          </a:p>
        </p:txBody>
      </p:sp>
      <p:sp>
        <p:nvSpPr>
          <p:cNvPr id="11" name="stat Random forest F1 trained and tested on CICIDS2017"/>
          <p:cNvSpPr txBox="1"/>
          <p:nvPr/>
        </p:nvSpPr>
        <p:spPr>
          <a:xfrm>
            <a:off x="7818120" y="2331720"/>
            <a:ext cx="3657600" cy="822960"/>
          </a:xfrm>
          <a:prstGeom prst="rect">
            <a:avLst/>
          </a:prstGeom>
          <a:noFill/>
          <a:ln/>
        </p:spPr>
        <p:txBody>
          <a:bodyPr wrap="square" lIns="0" tIns="0" rIns="0" bIns="0" rtlCol="0" anchor="ctr"/>
          <a:lstStyle/>
          <a:p>
            <a:pPr marL="0" indent="0">
              <a:buNone/>
            </a:pPr>
            <a:r>
              <a:rPr lang="en-US" sz="4400" b="1" dirty="0">
                <a:solidFill>
                  <a:srgbClr val="2A78D6"/>
                </a:solidFill>
                <a:latin typeface="Calibri" pitchFamily="34" charset="0"/>
                <a:ea typeface="Calibri" pitchFamily="34" charset="-122"/>
                <a:cs typeface="Calibri" pitchFamily="34" charset="-120"/>
              </a:rPr>
              <a:t>0.997</a:t>
            </a:r>
            <a:endParaRPr lang="en-US" sz="4400" dirty="0"/>
          </a:p>
        </p:txBody>
      </p:sp>
      <p:sp>
        <p:nvSpPr>
          <p:cNvPr id="12" name="stat label Random forest F1 trained and tested on CICIDS2017"/>
          <p:cNvSpPr txBox="1"/>
          <p:nvPr/>
        </p:nvSpPr>
        <p:spPr>
          <a:xfrm>
            <a:off x="7818120" y="3154680"/>
            <a:ext cx="3657600"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Random forest F1 trained and tested on CICIDS2017</a:t>
            </a:r>
            <a:endParaRPr lang="en-US" sz="1400" dirty="0"/>
          </a:p>
        </p:txBody>
      </p:sp>
      <p:sp>
        <p:nvSpPr>
          <p:cNvPr id="13" name="stat Same model tested on CSE-CIC-IDS2018: was the collapse real or a pipeline error?"/>
          <p:cNvSpPr txBox="1"/>
          <p:nvPr/>
        </p:nvSpPr>
        <p:spPr>
          <a:xfrm>
            <a:off x="7818120" y="3931920"/>
            <a:ext cx="3657600" cy="822960"/>
          </a:xfrm>
          <a:prstGeom prst="rect">
            <a:avLst/>
          </a:prstGeom>
          <a:noFill/>
          <a:ln/>
        </p:spPr>
        <p:txBody>
          <a:bodyPr wrap="square" lIns="0" tIns="0" rIns="0" bIns="0" rtlCol="0" anchor="ctr"/>
          <a:lstStyle/>
          <a:p>
            <a:pPr marL="0" indent="0">
              <a:buNone/>
            </a:pPr>
            <a:r>
              <a:rPr lang="en-US" sz="4400" b="1" dirty="0">
                <a:solidFill>
                  <a:srgbClr val="EB6834"/>
                </a:solidFill>
                <a:latin typeface="Calibri" pitchFamily="34" charset="0"/>
                <a:ea typeface="Calibri" pitchFamily="34" charset="-122"/>
                <a:cs typeface="Calibri" pitchFamily="34" charset="-120"/>
              </a:rPr>
              <a:t>0.002</a:t>
            </a:r>
            <a:endParaRPr lang="en-US" sz="4400" dirty="0"/>
          </a:p>
        </p:txBody>
      </p:sp>
      <p:sp>
        <p:nvSpPr>
          <p:cNvPr id="14" name="stat label Same model tested on CSE-CIC-IDS2018: was the collapse real or a pipeline error?"/>
          <p:cNvSpPr txBox="1"/>
          <p:nvPr/>
        </p:nvSpPr>
        <p:spPr>
          <a:xfrm>
            <a:off x="7818120" y="4754880"/>
            <a:ext cx="3657600"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Same model tested on CSE-CIC-IDS2018: was the collapse real or a pipeline error?</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01</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INTRODUCTION</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Scope of the project</a:t>
            </a:r>
            <a:endParaRPr lang="en-US" sz="3200" dirty="0"/>
          </a:p>
        </p:txBody>
      </p:sp>
      <p:sp>
        <p:nvSpPr>
          <p:cNvPr id="7" name="card In scope"/>
          <p:cNvSpPr/>
          <p:nvPr/>
        </p:nvSpPr>
        <p:spPr>
          <a:xfrm>
            <a:off x="548640" y="1691640"/>
            <a:ext cx="5394960" cy="4389120"/>
          </a:xfrm>
          <a:prstGeom prst="roundRect">
            <a:avLst>
              <a:gd name="adj" fmla="val 1667"/>
            </a:avLst>
          </a:prstGeom>
          <a:solidFill>
            <a:srgbClr val="F3F5F9"/>
          </a:solidFill>
          <a:ln w="12700">
            <a:solidFill>
              <a:srgbClr val="F3F5F9"/>
            </a:solidFill>
            <a:prstDash val="solid"/>
          </a:ln>
        </p:spPr>
        <p:txBody>
          <a:bodyPr/>
          <a:lstStyle/>
          <a:p>
            <a:endParaRPr lang="en-IN"/>
          </a:p>
        </p:txBody>
      </p:sp>
      <p:sp>
        <p:nvSpPr>
          <p:cNvPr id="8" name="card head In scope"/>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In scope</a:t>
            </a:r>
            <a:endParaRPr lang="en-US" sz="1800" dirty="0"/>
          </a:p>
        </p:txBody>
      </p:sp>
      <p:sp>
        <p:nvSpPr>
          <p:cNvPr id="9" name="card body In scope"/>
          <p:cNvSpPr txBox="1"/>
          <p:nvPr/>
        </p:nvSpPr>
        <p:spPr>
          <a:xfrm>
            <a:off x="731520" y="2286000"/>
            <a:ext cx="5029200" cy="365760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 Payload-independent CICFlowMeter features (75–76 statistics)</a:t>
            </a:r>
            <a:endParaRPr lang="en-US" sz="1600" dirty="0"/>
          </a:p>
          <a:p>
            <a:pPr marL="0" indent="0">
              <a:buNone/>
            </a:pPr>
            <a:r>
              <a:rPr lang="en-US" sz="1600" dirty="0">
                <a:solidFill>
                  <a:schemeClr val="tx1"/>
                </a:solidFill>
                <a:latin typeface="Calibri" pitchFamily="34" charset="0"/>
                <a:ea typeface="Calibri" pitchFamily="34" charset="-122"/>
                <a:cs typeface="Calibri" pitchFamily="34" charset="-120"/>
              </a:rPr>
              <a:t>• CICIDS2017 in full (2.83 M flows) and its timestamped release</a:t>
            </a:r>
            <a:endParaRPr lang="en-US" sz="1600" dirty="0"/>
          </a:p>
          <a:p>
            <a:pPr marL="0" indent="0">
              <a:buNone/>
            </a:pPr>
            <a:r>
              <a:rPr lang="en-US" sz="1600" dirty="0">
                <a:solidFill>
                  <a:schemeClr val="tx1"/>
                </a:solidFill>
                <a:latin typeface="Calibri" pitchFamily="34" charset="0"/>
                <a:ea typeface="Calibri" pitchFamily="34" charset="-122"/>
                <a:cs typeface="Calibri" pitchFamily="34" charset="-120"/>
              </a:rPr>
              <a:t>• CSE-CIC-IDS2018, two days: DoS-Hulk, DoS-SlowHTTPTest, web attacks</a:t>
            </a:r>
            <a:endParaRPr lang="en-US" sz="1600" dirty="0"/>
          </a:p>
          <a:p>
            <a:pPr marL="0" indent="0">
              <a:buNone/>
            </a:pPr>
            <a:r>
              <a:rPr lang="en-US" sz="1600" dirty="0">
                <a:solidFill>
                  <a:schemeClr val="tx1"/>
                </a:solidFill>
                <a:latin typeface="Calibri" pitchFamily="34" charset="0"/>
                <a:ea typeface="Calibri" pitchFamily="34" charset="-122"/>
                <a:cs typeface="Calibri" pitchFamily="34" charset="-120"/>
              </a:rPr>
              <a:t>• Binary detection and attack attribution (6 families, 12 types)</a:t>
            </a:r>
            <a:endParaRPr lang="en-US" sz="1600" dirty="0"/>
          </a:p>
          <a:p>
            <a:pPr marL="0" indent="0">
              <a:buNone/>
            </a:pPr>
            <a:r>
              <a:rPr lang="en-US" sz="1600" dirty="0">
                <a:solidFill>
                  <a:schemeClr val="tx1"/>
                </a:solidFill>
                <a:latin typeface="Calibri" pitchFamily="34" charset="0"/>
                <a:ea typeface="Calibri" pitchFamily="34" charset="-122"/>
                <a:cs typeface="Calibri" pitchFamily="34" charset="-120"/>
              </a:rPr>
              <a:t>• Random forest and XGBoost</a:t>
            </a:r>
            <a:endParaRPr lang="en-US" sz="1600" dirty="0"/>
          </a:p>
          <a:p>
            <a:pPr marL="0" indent="0">
              <a:buNone/>
            </a:pPr>
            <a:r>
              <a:rPr lang="en-US" sz="1600" dirty="0">
                <a:solidFill>
                  <a:schemeClr val="tx1"/>
                </a:solidFill>
                <a:latin typeface="Calibri" pitchFamily="34" charset="0"/>
                <a:ea typeface="Calibri" pitchFamily="34" charset="-122"/>
                <a:cs typeface="Calibri" pitchFamily="34" charset="-120"/>
              </a:rPr>
              <a:t>• Label-free mitigation of dataset shift</a:t>
            </a:r>
            <a:endParaRPr lang="en-US" sz="1600" dirty="0"/>
          </a:p>
        </p:txBody>
      </p:sp>
      <p:sp>
        <p:nvSpPr>
          <p:cNvPr id="10" name="card Out of scope"/>
          <p:cNvSpPr/>
          <p:nvPr/>
        </p:nvSpPr>
        <p:spPr>
          <a:xfrm>
            <a:off x="6263640" y="1691640"/>
            <a:ext cx="5394960" cy="4389120"/>
          </a:xfrm>
          <a:prstGeom prst="roundRect">
            <a:avLst>
              <a:gd name="adj" fmla="val 1667"/>
            </a:avLst>
          </a:prstGeom>
          <a:solidFill>
            <a:srgbClr val="F3F5F9"/>
          </a:solidFill>
          <a:ln w="12700">
            <a:solidFill>
              <a:srgbClr val="F3F5F9"/>
            </a:solidFill>
            <a:prstDash val="solid"/>
          </a:ln>
        </p:spPr>
        <p:txBody>
          <a:bodyPr/>
          <a:lstStyle/>
          <a:p>
            <a:endParaRPr lang="en-IN"/>
          </a:p>
        </p:txBody>
      </p:sp>
      <p:sp>
        <p:nvSpPr>
          <p:cNvPr id="11" name="card head Out of scope"/>
          <p:cNvSpPr txBox="1"/>
          <p:nvPr/>
        </p:nvSpPr>
        <p:spPr>
          <a:xfrm>
            <a:off x="6446520" y="1828800"/>
            <a:ext cx="5029200"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Out of scope</a:t>
            </a:r>
            <a:endParaRPr lang="en-US" sz="1800" dirty="0"/>
          </a:p>
        </p:txBody>
      </p:sp>
      <p:sp>
        <p:nvSpPr>
          <p:cNvPr id="12" name="card body Out of scope"/>
          <p:cNvSpPr txBox="1"/>
          <p:nvPr/>
        </p:nvSpPr>
        <p:spPr>
          <a:xfrm>
            <a:off x="6446520" y="2286000"/>
            <a:ext cx="5029200" cy="365760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 Packet payloads and TLS handshake fields</a:t>
            </a:r>
            <a:endParaRPr lang="en-US" sz="1600" dirty="0"/>
          </a:p>
          <a:p>
            <a:pPr marL="0" indent="0">
              <a:buNone/>
            </a:pPr>
            <a:r>
              <a:rPr lang="en-US" sz="1600" dirty="0">
                <a:solidFill>
                  <a:schemeClr val="tx1"/>
                </a:solidFill>
                <a:latin typeface="Calibri" pitchFamily="34" charset="0"/>
                <a:ea typeface="Calibri" pitchFamily="34" charset="-122"/>
                <a:cs typeface="Calibri" pitchFamily="34" charset="-120"/>
              </a:rPr>
              <a:t>• Raw packet captures and early-flow detection</a:t>
            </a:r>
            <a:endParaRPr lang="en-US" sz="1600" dirty="0"/>
          </a:p>
          <a:p>
            <a:pPr marL="0" indent="0">
              <a:buNone/>
            </a:pPr>
            <a:r>
              <a:rPr lang="en-US" sz="1600" dirty="0">
                <a:solidFill>
                  <a:schemeClr val="tx1"/>
                </a:solidFill>
                <a:latin typeface="Calibri" pitchFamily="34" charset="0"/>
                <a:ea typeface="Calibri" pitchFamily="34" charset="-122"/>
                <a:cs typeface="Calibri" pitchFamily="34" charset="-120"/>
              </a:rPr>
              <a:t>• Deep sequence models</a:t>
            </a:r>
            <a:endParaRPr lang="en-US" sz="1600" dirty="0"/>
          </a:p>
          <a:p>
            <a:pPr marL="0" indent="0">
              <a:buNone/>
            </a:pPr>
            <a:r>
              <a:rPr lang="en-US" sz="1600" dirty="0">
                <a:solidFill>
                  <a:schemeClr val="tx1"/>
                </a:solidFill>
                <a:latin typeface="Calibri" pitchFamily="34" charset="0"/>
                <a:ea typeface="Calibri" pitchFamily="34" charset="-122"/>
                <a:cs typeface="Calibri" pitchFamily="34" charset="-120"/>
              </a:rPr>
              <a:t>• Adversarial evasion experiments</a:t>
            </a:r>
            <a:endParaRPr lang="en-US" sz="1600" dirty="0"/>
          </a:p>
          <a:p>
            <a:pPr marL="0" indent="0">
              <a:buNone/>
            </a:pPr>
            <a:r>
              <a:rPr lang="en-US" sz="1600" dirty="0">
                <a:solidFill>
                  <a:schemeClr val="tx1"/>
                </a:solidFill>
                <a:latin typeface="Calibri" pitchFamily="34" charset="0"/>
                <a:ea typeface="Calibri" pitchFamily="34" charset="-122"/>
                <a:cs typeface="Calibri" pitchFamily="34" charset="-120"/>
              </a:rPr>
              <a:t>• Online deployment</a:t>
            </a:r>
            <a:endParaRPr lang="en-US" sz="1600" dirty="0"/>
          </a:p>
          <a:p>
            <a:pPr marL="0" indent="0">
              <a:buNone/>
            </a:pPr>
            <a:r>
              <a:rPr lang="en-US" sz="1600" dirty="0">
                <a:solidFill>
                  <a:schemeClr val="tx1"/>
                </a:solidFill>
                <a:latin typeface="Calibri" pitchFamily="34" charset="0"/>
                <a:ea typeface="Calibri" pitchFamily="34" charset="-122"/>
                <a:cs typeface="Calibri" pitchFamily="34" charset="-120"/>
              </a:rPr>
              <a:t>• Adaptation that uses target-dataset labels</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02</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PROJECT DESCRIPTION AND GOALS</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Literature: errors are documented, their effect is not</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11091672" cy="3980688"/>
        </p:xfrm>
        <a:graphic>
          <a:graphicData uri="http://schemas.openxmlformats.org/drawingml/2006/table">
            <a:tbl>
              <a:tblPr/>
              <a:tblGrid>
                <a:gridCol w="3108960">
                  <a:extLst>
                    <a:ext uri="{9D8B030D-6E8A-4147-A177-3AD203B41FA5}">
                      <a16:colId xmlns:a16="http://schemas.microsoft.com/office/drawing/2014/main" val="20000"/>
                    </a:ext>
                  </a:extLst>
                </a:gridCol>
                <a:gridCol w="4297680">
                  <a:extLst>
                    <a:ext uri="{9D8B030D-6E8A-4147-A177-3AD203B41FA5}">
                      <a16:colId xmlns:a16="http://schemas.microsoft.com/office/drawing/2014/main" val="20001"/>
                    </a:ext>
                  </a:extLst>
                </a:gridCol>
                <a:gridCol w="3685032">
                  <a:extLst>
                    <a:ext uri="{9D8B030D-6E8A-4147-A177-3AD203B41FA5}">
                      <a16:colId xmlns:a16="http://schemas.microsoft.com/office/drawing/2014/main" val="20002"/>
                    </a:ext>
                  </a:extLst>
                </a:gridCol>
              </a:tblGrid>
              <a:tr h="566928">
                <a:tc>
                  <a:txBody>
                    <a:bodyPr/>
                    <a:lstStyle/>
                    <a:p>
                      <a:pPr marL="0" indent="0">
                        <a:buNone/>
                      </a:pPr>
                      <a:r>
                        <a:rPr lang="en-US" sz="1600" b="1" dirty="0">
                          <a:solidFill>
                            <a:srgbClr val="14213D"/>
                          </a:solidFill>
                          <a:latin typeface="Calibri" pitchFamily="34" charset="0"/>
                          <a:ea typeface="Calibri" pitchFamily="34" charset="-122"/>
                          <a:cs typeface="Calibri" pitchFamily="34" charset="-120"/>
                        </a:rPr>
                        <a:t>Work</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600" b="1" dirty="0">
                          <a:solidFill>
                            <a:srgbClr val="14213D"/>
                          </a:solidFill>
                          <a:latin typeface="Calibri" pitchFamily="34" charset="0"/>
                          <a:ea typeface="Calibri" pitchFamily="34" charset="-122"/>
                          <a:cs typeface="Calibri" pitchFamily="34" charset="-120"/>
                        </a:rPr>
                        <a:t>Finding</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600" b="1" dirty="0">
                          <a:solidFill>
                            <a:srgbClr val="14213D"/>
                          </a:solidFill>
                          <a:latin typeface="Calibri" pitchFamily="34" charset="0"/>
                          <a:ea typeface="Calibri" pitchFamily="34" charset="-122"/>
                          <a:cs typeface="Calibri" pitchFamily="34" charset="-120"/>
                        </a:rPr>
                        <a:t>Open point addressed here</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extLst>
                  <a:ext uri="{0D108BD9-81ED-4DB2-BD59-A6C34878D82A}">
                    <a16:rowId xmlns:a16="http://schemas.microsoft.com/office/drawing/2014/main" val="10000"/>
                  </a:ext>
                </a:extLst>
              </a:tr>
              <a:tr h="566928">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Sharafaldin et al., 2018</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CICIDS2017 with 80+ CICFlowMeter features</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Random-split evaluation only</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1"/>
                  </a:ext>
                </a:extLst>
              </a:tr>
              <a:tr h="566928">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Engelen 2021; Liu 2022; Lanvin 2023</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Label, capture and flow-construction errors</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Effect of feature-level conflicts on metrics</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2"/>
                  </a:ext>
                </a:extLst>
              </a:tr>
              <a:tr h="566928">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Pekar &amp; Jozsa, 2024</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Random forests robust to data-integrity defects</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Temporal effect not isolated</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3"/>
                  </a:ext>
                </a:extLst>
              </a:tr>
              <a:tr h="566928">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Arp 2022; Pendlebury 2019</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Data snooping and temporal bias inflate security ML</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No flow-level quantification</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4"/>
                  </a:ext>
                </a:extLst>
              </a:tr>
              <a:tr h="566928">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Moczkodan &amp; Ragab, 2026</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Split protocol dominates; leakage-free FAR × 67</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What the errors of a time split consist of</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5"/>
                  </a:ext>
                </a:extLst>
              </a:tr>
              <a:tr h="566928">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Cantone et al., 2024</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2017 → 2018 grouped binary F1 0.26–0.39</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600" dirty="0">
                          <a:solidFill>
                            <a:srgbClr val="1A1A1A"/>
                          </a:solidFill>
                          <a:latin typeface="Calibri" pitchFamily="34" charset="0"/>
                          <a:ea typeface="Calibri" pitchFamily="34" charset="-122"/>
                          <a:cs typeface="Calibri" pitchFamily="34" charset="-120"/>
                        </a:rPr>
                        <a:t>No same-year reference or unit checks</a:t>
                      </a:r>
                      <a:endParaRPr lang="en-US" sz="16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02</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PROJECT DESCRIPTION AND GOALS</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Research gap and problem statement</a:t>
            </a:r>
            <a:endParaRPr lang="en-US" sz="3200" dirty="0"/>
          </a:p>
        </p:txBody>
      </p:sp>
      <p:sp>
        <p:nvSpPr>
          <p:cNvPr id="7" name="card Split errors"/>
          <p:cNvSpPr/>
          <p:nvPr/>
        </p:nvSpPr>
        <p:spPr>
          <a:xfrm>
            <a:off x="548640" y="1691640"/>
            <a:ext cx="2103120" cy="1828800"/>
          </a:xfrm>
          <a:prstGeom prst="roundRect">
            <a:avLst>
              <a:gd name="adj" fmla="val 4000"/>
            </a:avLst>
          </a:prstGeom>
          <a:solidFill>
            <a:srgbClr val="F3F5F9"/>
          </a:solidFill>
          <a:ln w="12700">
            <a:solidFill>
              <a:srgbClr val="F3F5F9"/>
            </a:solidFill>
            <a:prstDash val="solid"/>
          </a:ln>
        </p:spPr>
        <p:txBody>
          <a:bodyPr/>
          <a:lstStyle/>
          <a:p>
            <a:endParaRPr lang="en-IN"/>
          </a:p>
        </p:txBody>
      </p:sp>
      <p:sp>
        <p:nvSpPr>
          <p:cNvPr id="8" name="card head Split errors"/>
          <p:cNvSpPr txBox="1"/>
          <p:nvPr/>
        </p:nvSpPr>
        <p:spPr>
          <a:xfrm>
            <a:off x="731520" y="1828800"/>
            <a:ext cx="1737360" cy="41148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Split errors</a:t>
            </a:r>
            <a:endParaRPr lang="en-US" sz="1500" dirty="0"/>
          </a:p>
        </p:txBody>
      </p:sp>
      <p:sp>
        <p:nvSpPr>
          <p:cNvPr id="9" name="card body Split errors"/>
          <p:cNvSpPr txBox="1"/>
          <p:nvPr/>
        </p:nvSpPr>
        <p:spPr>
          <a:xfrm>
            <a:off x="731520" y="2286000"/>
            <a:ext cx="173736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Leakage and chronological ordering not separated; errors of time-aware splits not inspected</a:t>
            </a:r>
            <a:endParaRPr lang="en-US" sz="1400" dirty="0"/>
          </a:p>
        </p:txBody>
      </p:sp>
      <p:sp>
        <p:nvSpPr>
          <p:cNvPr id="10" name="card Label conflicts"/>
          <p:cNvSpPr/>
          <p:nvPr/>
        </p:nvSpPr>
        <p:spPr>
          <a:xfrm>
            <a:off x="2788920" y="1691640"/>
            <a:ext cx="2103120" cy="1828800"/>
          </a:xfrm>
          <a:prstGeom prst="roundRect">
            <a:avLst>
              <a:gd name="adj" fmla="val 4000"/>
            </a:avLst>
          </a:prstGeom>
          <a:solidFill>
            <a:srgbClr val="F3F5F9"/>
          </a:solidFill>
          <a:ln w="12700">
            <a:solidFill>
              <a:srgbClr val="F3F5F9"/>
            </a:solidFill>
            <a:prstDash val="solid"/>
          </a:ln>
        </p:spPr>
        <p:txBody>
          <a:bodyPr/>
          <a:lstStyle/>
          <a:p>
            <a:endParaRPr lang="en-IN"/>
          </a:p>
        </p:txBody>
      </p:sp>
      <p:sp>
        <p:nvSpPr>
          <p:cNvPr id="11" name="card head Label conflicts"/>
          <p:cNvSpPr txBox="1"/>
          <p:nvPr/>
        </p:nvSpPr>
        <p:spPr>
          <a:xfrm>
            <a:off x="2971800" y="1828800"/>
            <a:ext cx="1737360" cy="41148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Label conflicts</a:t>
            </a:r>
            <a:endParaRPr lang="en-US" sz="1500" dirty="0"/>
          </a:p>
        </p:txBody>
      </p:sp>
      <p:sp>
        <p:nvSpPr>
          <p:cNvPr id="12" name="card body Label conflicts"/>
          <p:cNvSpPr txBox="1"/>
          <p:nvPr/>
        </p:nvSpPr>
        <p:spPr>
          <a:xfrm>
            <a:off x="2971800" y="2286000"/>
            <a:ext cx="173736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Identical vectors with different labels not counted</a:t>
            </a:r>
            <a:endParaRPr lang="en-US" sz="1400" dirty="0"/>
          </a:p>
        </p:txBody>
      </p:sp>
      <p:sp>
        <p:nvSpPr>
          <p:cNvPr id="13" name="card Attribution"/>
          <p:cNvSpPr/>
          <p:nvPr/>
        </p:nvSpPr>
        <p:spPr>
          <a:xfrm>
            <a:off x="5029200" y="1691640"/>
            <a:ext cx="2103120" cy="1828800"/>
          </a:xfrm>
          <a:prstGeom prst="roundRect">
            <a:avLst>
              <a:gd name="adj" fmla="val 4000"/>
            </a:avLst>
          </a:prstGeom>
          <a:solidFill>
            <a:srgbClr val="F3F5F9"/>
          </a:solidFill>
          <a:ln w="12700">
            <a:solidFill>
              <a:srgbClr val="F3F5F9"/>
            </a:solidFill>
            <a:prstDash val="solid"/>
          </a:ln>
        </p:spPr>
        <p:txBody>
          <a:bodyPr/>
          <a:lstStyle/>
          <a:p>
            <a:endParaRPr lang="en-IN"/>
          </a:p>
        </p:txBody>
      </p:sp>
      <p:sp>
        <p:nvSpPr>
          <p:cNvPr id="14" name="card head Attribution"/>
          <p:cNvSpPr txBox="1"/>
          <p:nvPr/>
        </p:nvSpPr>
        <p:spPr>
          <a:xfrm>
            <a:off x="5212080" y="1828800"/>
            <a:ext cx="1737360" cy="41148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Attribution</a:t>
            </a:r>
            <a:endParaRPr lang="en-US" sz="1500" dirty="0"/>
          </a:p>
        </p:txBody>
      </p:sp>
      <p:sp>
        <p:nvSpPr>
          <p:cNvPr id="15" name="card body Attribution"/>
          <p:cNvSpPr txBox="1"/>
          <p:nvPr/>
        </p:nvSpPr>
        <p:spPr>
          <a:xfrm>
            <a:off x="5212080" y="2286000"/>
            <a:ext cx="173736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Attack type scored on true attacks only, not end to end</a:t>
            </a:r>
            <a:endParaRPr lang="en-US" sz="1400" dirty="0"/>
          </a:p>
        </p:txBody>
      </p:sp>
      <p:sp>
        <p:nvSpPr>
          <p:cNvPr id="16" name="card Transfer failure"/>
          <p:cNvSpPr/>
          <p:nvPr/>
        </p:nvSpPr>
        <p:spPr>
          <a:xfrm>
            <a:off x="7269480" y="1691640"/>
            <a:ext cx="2103120" cy="1828800"/>
          </a:xfrm>
          <a:prstGeom prst="roundRect">
            <a:avLst>
              <a:gd name="adj" fmla="val 4000"/>
            </a:avLst>
          </a:prstGeom>
          <a:solidFill>
            <a:srgbClr val="F3F5F9"/>
          </a:solidFill>
          <a:ln w="12700">
            <a:solidFill>
              <a:srgbClr val="F3F5F9"/>
            </a:solidFill>
            <a:prstDash val="solid"/>
          </a:ln>
        </p:spPr>
        <p:txBody>
          <a:bodyPr/>
          <a:lstStyle/>
          <a:p>
            <a:endParaRPr lang="en-IN"/>
          </a:p>
        </p:txBody>
      </p:sp>
      <p:sp>
        <p:nvSpPr>
          <p:cNvPr id="17" name="card head Transfer failure"/>
          <p:cNvSpPr txBox="1"/>
          <p:nvPr/>
        </p:nvSpPr>
        <p:spPr>
          <a:xfrm>
            <a:off x="7452360" y="1828800"/>
            <a:ext cx="1737360" cy="41148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Transfer failure</a:t>
            </a:r>
            <a:endParaRPr lang="en-US" sz="1500" dirty="0"/>
          </a:p>
        </p:txBody>
      </p:sp>
      <p:sp>
        <p:nvSpPr>
          <p:cNvPr id="18" name="card body Transfer failure"/>
          <p:cNvSpPr txBox="1"/>
          <p:nvPr/>
        </p:nvSpPr>
        <p:spPr>
          <a:xfrm>
            <a:off x="7452360" y="2286000"/>
            <a:ext cx="173736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Reported, not diagnosed or mitigated</a:t>
            </a:r>
            <a:endParaRPr lang="en-US" sz="1400" dirty="0"/>
          </a:p>
        </p:txBody>
      </p:sp>
      <p:sp>
        <p:nvSpPr>
          <p:cNvPr id="19" name="card Noise floor"/>
          <p:cNvSpPr/>
          <p:nvPr/>
        </p:nvSpPr>
        <p:spPr>
          <a:xfrm>
            <a:off x="9509760" y="1691640"/>
            <a:ext cx="2103120" cy="1828800"/>
          </a:xfrm>
          <a:prstGeom prst="roundRect">
            <a:avLst>
              <a:gd name="adj" fmla="val 4000"/>
            </a:avLst>
          </a:prstGeom>
          <a:solidFill>
            <a:srgbClr val="F3F5F9"/>
          </a:solidFill>
          <a:ln w="12700">
            <a:solidFill>
              <a:srgbClr val="F3F5F9"/>
            </a:solidFill>
            <a:prstDash val="solid"/>
          </a:ln>
        </p:spPr>
        <p:txBody>
          <a:bodyPr/>
          <a:lstStyle/>
          <a:p>
            <a:endParaRPr lang="en-IN"/>
          </a:p>
        </p:txBody>
      </p:sp>
      <p:sp>
        <p:nvSpPr>
          <p:cNvPr id="20" name="card head Noise floor"/>
          <p:cNvSpPr txBox="1"/>
          <p:nvPr/>
        </p:nvSpPr>
        <p:spPr>
          <a:xfrm>
            <a:off x="9692640" y="1828800"/>
            <a:ext cx="1737360" cy="411480"/>
          </a:xfrm>
          <a:prstGeom prst="rect">
            <a:avLst/>
          </a:prstGeom>
          <a:noFill/>
          <a:ln/>
        </p:spPr>
        <p:txBody>
          <a:bodyPr wrap="square" lIns="0" tIns="0" rIns="0" bIns="0" rtlCol="0" anchor="t"/>
          <a:lstStyle/>
          <a:p>
            <a:pPr marL="0" indent="0">
              <a:buNone/>
            </a:pPr>
            <a:r>
              <a:rPr lang="en-US" sz="1500" b="1" dirty="0">
                <a:solidFill>
                  <a:schemeClr val="tx2"/>
                </a:solidFill>
                <a:latin typeface="Cambria" pitchFamily="34" charset="0"/>
                <a:ea typeface="Cambria" pitchFamily="34" charset="-122"/>
                <a:cs typeface="Cambria" pitchFamily="34" charset="-120"/>
              </a:rPr>
              <a:t>Noise floor</a:t>
            </a:r>
            <a:endParaRPr lang="en-US" sz="1500" dirty="0"/>
          </a:p>
        </p:txBody>
      </p:sp>
      <p:sp>
        <p:nvSpPr>
          <p:cNvPr id="21" name="card body Noise floor"/>
          <p:cNvSpPr txBox="1"/>
          <p:nvPr/>
        </p:nvSpPr>
        <p:spPr>
          <a:xfrm>
            <a:off x="9692640" y="2286000"/>
            <a:ext cx="1737360" cy="109728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Seed variability rarely reported</a:t>
            </a:r>
            <a:endParaRPr lang="en-US" sz="1400" dirty="0"/>
          </a:p>
        </p:txBody>
      </p:sp>
      <p:sp>
        <p:nvSpPr>
          <p:cNvPr id="22" name="Text 19"/>
          <p:cNvSpPr txBox="1"/>
          <p:nvPr/>
        </p:nvSpPr>
        <p:spPr>
          <a:xfrm>
            <a:off x="548640" y="3794760"/>
            <a:ext cx="5486400" cy="365760"/>
          </a:xfrm>
          <a:prstGeom prst="rect">
            <a:avLst/>
          </a:prstGeom>
          <a:noFill/>
          <a:ln/>
        </p:spPr>
        <p:txBody>
          <a:bodyPr wrap="square" lIns="0" tIns="0" rIns="0" bIns="0" rtlCol="0" anchor="ctr"/>
          <a:lstStyle/>
          <a:p>
            <a:pPr marL="0" indent="0">
              <a:buNone/>
            </a:pPr>
            <a:r>
              <a:rPr lang="en-US" sz="1800" b="1" dirty="0">
                <a:solidFill>
                  <a:schemeClr val="tx2"/>
                </a:solidFill>
                <a:latin typeface="Cambria" pitchFamily="34" charset="0"/>
                <a:ea typeface="Cambria" pitchFamily="34" charset="-122"/>
                <a:cs typeface="Cambria" pitchFamily="34" charset="-120"/>
              </a:rPr>
              <a:t>Problem statement</a:t>
            </a:r>
            <a:endParaRPr lang="en-US" sz="1800" dirty="0"/>
          </a:p>
        </p:txBody>
      </p:sp>
      <p:sp>
        <p:nvSpPr>
          <p:cNvPr id="23" name="body text"/>
          <p:cNvSpPr txBox="1"/>
          <p:nvPr/>
        </p:nvSpPr>
        <p:spPr>
          <a:xfrm>
            <a:off x="548640" y="4206240"/>
            <a:ext cx="11094415" cy="2103120"/>
          </a:xfrm>
          <a:prstGeom prst="rect">
            <a:avLst/>
          </a:prstGeom>
          <a:noFill/>
          <a:ln/>
        </p:spPr>
        <p:txBody>
          <a:bodyPr wrap="square" lIns="635" tIns="635" rIns="635" bIns="635" rtlCol="0" anchor="t"/>
          <a:lstStyle/>
          <a:p>
            <a:pPr marL="228600" indent="-2286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(a) How much does measured performance depend on the protocol: leakage between correlated records or chronological ordering, and what do the extra errors consist of?</a:t>
            </a:r>
            <a:endParaRPr lang="en-US" sz="1500" dirty="0"/>
          </a:p>
          <a:p>
            <a:pPr marL="228600" indent="-2286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(b) How do duplicates and label conflicts change the evaluated population and the metrics?</a:t>
            </a:r>
            <a:endParaRPr lang="en-US" sz="1500" dirty="0"/>
          </a:p>
          <a:p>
            <a:pPr marL="228600" indent="-2286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(c) How much does attribution degrade once detection errors are included?</a:t>
            </a:r>
            <a:endParaRPr lang="en-US" sz="1500" dirty="0"/>
          </a:p>
          <a:p>
            <a:pPr marL="228600" indent="-228600">
              <a:spcAft>
                <a:spcPts val="400"/>
              </a:spcAft>
              <a:buSzPct val="100000"/>
              <a:buChar char="•"/>
            </a:pPr>
            <a:r>
              <a:rPr lang="en-US" sz="1500" dirty="0">
                <a:solidFill>
                  <a:schemeClr val="tx1"/>
                </a:solidFill>
                <a:latin typeface="Calibri" pitchFamily="34" charset="0"/>
                <a:ea typeface="Calibri" pitchFamily="34" charset="-122"/>
                <a:cs typeface="Calibri" pitchFamily="34" charset="-120"/>
              </a:rPr>
              <a:t>(d) Why does zero-shot transfer to CSE-CIC-IDS2018 fail, and does label-free normalisation repair it?</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02</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PROJECT DESCRIPTION AND GOALS</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Objectives and project plan</a:t>
            </a:r>
            <a:endParaRPr lang="en-US" sz="3200" dirty="0"/>
          </a:p>
        </p:txBody>
      </p:sp>
      <p:sp>
        <p:nvSpPr>
          <p:cNvPr id="7" name="body text"/>
          <p:cNvSpPr txBox="1"/>
          <p:nvPr/>
        </p:nvSpPr>
        <p:spPr>
          <a:xfrm>
            <a:off x="548640" y="1600200"/>
            <a:ext cx="5486400" cy="1737360"/>
          </a:xfrm>
          <a:prstGeom prst="rect">
            <a:avLst/>
          </a:prstGeom>
          <a:noFill/>
          <a:ln/>
        </p:spPr>
        <p:txBody>
          <a:bodyPr wrap="square" lIns="635" tIns="635" rIns="635" bIns="635" rtlCol="0" anchor="t"/>
          <a:lstStyle/>
          <a:p>
            <a:pPr marL="228600" indent="-2286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O1  Reproduce the baseline exactly; verify 100% row alignment; five split protocols</a:t>
            </a:r>
            <a:endParaRPr lang="en-US" sz="1500" dirty="0"/>
          </a:p>
          <a:p>
            <a:pPr marL="228600" indent="-2286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O2  ≥ 2 seeds per protocol, 5 for the main comparison; audit the chronological-split errors</a:t>
            </a:r>
            <a:endParaRPr lang="en-US" sz="1500" dirty="0"/>
          </a:p>
          <a:p>
            <a:pPr marL="228600" indent="-2286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O3  Count duplicates and conflicts per class; compare four policies</a:t>
            </a:r>
            <a:endParaRPr lang="en-US" sz="1500" dirty="0"/>
          </a:p>
        </p:txBody>
      </p:sp>
      <p:sp>
        <p:nvSpPr>
          <p:cNvPr id="8" name="body text"/>
          <p:cNvSpPr txBox="1"/>
          <p:nvPr/>
        </p:nvSpPr>
        <p:spPr>
          <a:xfrm>
            <a:off x="6263640" y="1600200"/>
            <a:ext cx="5394960" cy="1737360"/>
          </a:xfrm>
          <a:prstGeom prst="rect">
            <a:avLst/>
          </a:prstGeom>
          <a:noFill/>
          <a:ln/>
        </p:spPr>
        <p:txBody>
          <a:bodyPr wrap="square" lIns="635" tIns="635" rIns="635" bIns="635" rtlCol="0" anchor="t"/>
          <a:lstStyle/>
          <a:p>
            <a:pPr marL="228600" indent="-2286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O4  Attribution in three scoring views with Wilson intervals</a:t>
            </a:r>
            <a:endParaRPr lang="en-US" sz="1500" dirty="0"/>
          </a:p>
          <a:p>
            <a:pPr marL="228600" indent="-2286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O5  Matched-family transfer with reference, upper bound, reverse, controls</a:t>
            </a:r>
            <a:endParaRPr lang="en-US" sz="1500" dirty="0"/>
          </a:p>
          <a:p>
            <a:pPr marL="228600" indent="-228600">
              <a:spcAft>
                <a:spcPts val="600"/>
              </a:spcAft>
              <a:buSzPct val="100000"/>
              <a:buChar char="•"/>
            </a:pPr>
            <a:r>
              <a:rPr lang="en-US" sz="1500" dirty="0">
                <a:solidFill>
                  <a:schemeClr val="tx1"/>
                </a:solidFill>
                <a:latin typeface="Calibri" pitchFamily="34" charset="0"/>
                <a:ea typeface="Calibri" pitchFamily="34" charset="-122"/>
                <a:cs typeface="Calibri" pitchFamily="34" charset="-120"/>
              </a:rPr>
              <a:t>O6  ≤ 6 GB working set per experiment; finish before the final review</a:t>
            </a:r>
            <a:endParaRPr lang="en-US" sz="1500" dirty="0"/>
          </a:p>
        </p:txBody>
      </p:sp>
      <p:pic>
        <p:nvPicPr>
          <p:cNvPr id="9" name="fig_gantt" descr="Gantt chart of the project"/>
          <p:cNvPicPr>
            <a:picLocks noChangeAspect="1"/>
          </p:cNvPicPr>
          <p:nvPr/>
        </p:nvPicPr>
        <p:blipFill>
          <a:blip r:embed="rId3"/>
          <a:stretch>
            <a:fillRect/>
          </a:stretch>
        </p:blipFill>
        <p:spPr>
          <a:xfrm>
            <a:off x="548640" y="3429000"/>
            <a:ext cx="11094415" cy="2747276"/>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03</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TECHNICAL SPECIFICATION</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Requirements</a:t>
            </a:r>
            <a:endParaRPr lang="en-US" sz="3200" dirty="0"/>
          </a:p>
        </p:txBody>
      </p:sp>
      <p:sp>
        <p:nvSpPr>
          <p:cNvPr id="7" name="card Functional"/>
          <p:cNvSpPr/>
          <p:nvPr/>
        </p:nvSpPr>
        <p:spPr>
          <a:xfrm>
            <a:off x="548640" y="1691640"/>
            <a:ext cx="5394960" cy="4434840"/>
          </a:xfrm>
          <a:prstGeom prst="roundRect">
            <a:avLst>
              <a:gd name="adj" fmla="val 1649"/>
            </a:avLst>
          </a:prstGeom>
          <a:solidFill>
            <a:srgbClr val="F3F5F9"/>
          </a:solidFill>
          <a:ln w="12700">
            <a:solidFill>
              <a:srgbClr val="F3F5F9"/>
            </a:solidFill>
            <a:prstDash val="solid"/>
          </a:ln>
        </p:spPr>
        <p:txBody>
          <a:bodyPr/>
          <a:lstStyle/>
          <a:p>
            <a:endParaRPr lang="en-IN"/>
          </a:p>
        </p:txBody>
      </p:sp>
      <p:sp>
        <p:nvSpPr>
          <p:cNvPr id="8" name="card head Functional"/>
          <p:cNvSpPr txBox="1"/>
          <p:nvPr/>
        </p:nvSpPr>
        <p:spPr>
          <a:xfrm>
            <a:off x="731520" y="1828800"/>
            <a:ext cx="5029200"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Functional</a:t>
            </a:r>
            <a:endParaRPr lang="en-US" sz="1800" dirty="0"/>
          </a:p>
        </p:txBody>
      </p:sp>
      <p:sp>
        <p:nvSpPr>
          <p:cNvPr id="9" name="card body Functional"/>
          <p:cNvSpPr txBox="1"/>
          <p:nvPr/>
        </p:nvSpPr>
        <p:spPr>
          <a:xfrm>
            <a:off x="731520" y="2286000"/>
            <a:ext cx="5029200" cy="370332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 Ingest both datasets and the timestamped release</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Canonicalise labels; align 2018 features to 2017 names</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Hash vectors; count duplicates and conflicts; apply a policy</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Generate five split protocols; audit false positives by endpoint and time</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Train Stage 1 and Stage 2; score three views</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Seed statistics, Wilson intervals</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Shift diagnosis and label-free mitigation</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Gates: feature order, label encoding, exact reproduction</a:t>
            </a:r>
            <a:endParaRPr lang="en-US" sz="1500" dirty="0"/>
          </a:p>
        </p:txBody>
      </p:sp>
      <p:sp>
        <p:nvSpPr>
          <p:cNvPr id="10" name="card Non-functional"/>
          <p:cNvSpPr/>
          <p:nvPr/>
        </p:nvSpPr>
        <p:spPr>
          <a:xfrm>
            <a:off x="6263640" y="1691640"/>
            <a:ext cx="5394960" cy="4434840"/>
          </a:xfrm>
          <a:prstGeom prst="roundRect">
            <a:avLst>
              <a:gd name="adj" fmla="val 1649"/>
            </a:avLst>
          </a:prstGeom>
          <a:solidFill>
            <a:srgbClr val="F3F5F9"/>
          </a:solidFill>
          <a:ln w="12700">
            <a:solidFill>
              <a:srgbClr val="F3F5F9"/>
            </a:solidFill>
            <a:prstDash val="solid"/>
          </a:ln>
        </p:spPr>
        <p:txBody>
          <a:bodyPr/>
          <a:lstStyle/>
          <a:p>
            <a:endParaRPr lang="en-IN"/>
          </a:p>
        </p:txBody>
      </p:sp>
      <p:sp>
        <p:nvSpPr>
          <p:cNvPr id="11" name="card head Non-functional"/>
          <p:cNvSpPr txBox="1"/>
          <p:nvPr/>
        </p:nvSpPr>
        <p:spPr>
          <a:xfrm>
            <a:off x="6446520" y="1828800"/>
            <a:ext cx="5029200"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Non-functional</a:t>
            </a:r>
            <a:endParaRPr lang="en-US" sz="1800" dirty="0"/>
          </a:p>
        </p:txBody>
      </p:sp>
      <p:sp>
        <p:nvSpPr>
          <p:cNvPr id="12" name="card body Non-functional"/>
          <p:cNvSpPr txBox="1"/>
          <p:nvPr/>
        </p:nvSpPr>
        <p:spPr>
          <a:xfrm>
            <a:off x="6446520" y="2286000"/>
            <a:ext cx="5029200" cy="370332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 Reproducibility: configuration, seeds, code hash and data fingerprints recorded per run</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Memory: ≤ 6 GB working set; loader peak cut from 8.63 GB to 4.13 GB with bit-identical output</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Integrity: SHA-256 checks of code, data and baseline after every experiment</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Unattended execution: sequential runs, memory guard, incremental saving</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Privacy: no payload; addresses and ports are never features, only used to audit errors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03</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TECHNICAL SPECIFICATION</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Feasibility and system specification</a:t>
            </a:r>
            <a:endParaRPr lang="en-US" sz="3200" dirty="0"/>
          </a:p>
        </p:txBody>
      </p:sp>
      <p:sp>
        <p:nvSpPr>
          <p:cNvPr id="7" name="card Technical"/>
          <p:cNvSpPr/>
          <p:nvPr/>
        </p:nvSpPr>
        <p:spPr>
          <a:xfrm>
            <a:off x="548640" y="1691640"/>
            <a:ext cx="3520440" cy="1828800"/>
          </a:xfrm>
          <a:prstGeom prst="roundRect">
            <a:avLst>
              <a:gd name="adj" fmla="val 4000"/>
            </a:avLst>
          </a:prstGeom>
          <a:solidFill>
            <a:srgbClr val="F3F5F9"/>
          </a:solidFill>
          <a:ln w="12700">
            <a:solidFill>
              <a:srgbClr val="F3F5F9"/>
            </a:solidFill>
            <a:prstDash val="solid"/>
          </a:ln>
        </p:spPr>
        <p:txBody>
          <a:bodyPr/>
          <a:lstStyle/>
          <a:p>
            <a:endParaRPr lang="en-IN"/>
          </a:p>
        </p:txBody>
      </p:sp>
      <p:sp>
        <p:nvSpPr>
          <p:cNvPr id="8" name="card head Technical"/>
          <p:cNvSpPr txBox="1"/>
          <p:nvPr/>
        </p:nvSpPr>
        <p:spPr>
          <a:xfrm>
            <a:off x="731520" y="1828800"/>
            <a:ext cx="3154680"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Technical</a:t>
            </a:r>
            <a:endParaRPr lang="en-US" sz="1800" dirty="0"/>
          </a:p>
        </p:txBody>
      </p:sp>
      <p:sp>
        <p:nvSpPr>
          <p:cNvPr id="9" name="card body Technical"/>
          <p:cNvSpPr txBox="1"/>
          <p:nvPr/>
        </p:nvSpPr>
        <p:spPr>
          <a:xfrm>
            <a:off x="731520" y="2286000"/>
            <a:ext cx="3154680" cy="10972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Public datasets (1.8 GB); a random forest trains on 1.7 M flows in 2–3 min on 8 cores; no GPU needed</a:t>
            </a:r>
            <a:endParaRPr lang="en-US" sz="1500" dirty="0"/>
          </a:p>
        </p:txBody>
      </p:sp>
      <p:sp>
        <p:nvSpPr>
          <p:cNvPr id="10" name="card Economic"/>
          <p:cNvSpPr/>
          <p:nvPr/>
        </p:nvSpPr>
        <p:spPr>
          <a:xfrm>
            <a:off x="4251960" y="1691640"/>
            <a:ext cx="3520440" cy="1828800"/>
          </a:xfrm>
          <a:prstGeom prst="roundRect">
            <a:avLst>
              <a:gd name="adj" fmla="val 4000"/>
            </a:avLst>
          </a:prstGeom>
          <a:solidFill>
            <a:srgbClr val="F3F5F9"/>
          </a:solidFill>
          <a:ln w="12700">
            <a:solidFill>
              <a:srgbClr val="F3F5F9"/>
            </a:solidFill>
            <a:prstDash val="solid"/>
          </a:ln>
        </p:spPr>
        <p:txBody>
          <a:bodyPr/>
          <a:lstStyle/>
          <a:p>
            <a:endParaRPr lang="en-IN"/>
          </a:p>
        </p:txBody>
      </p:sp>
      <p:sp>
        <p:nvSpPr>
          <p:cNvPr id="11" name="card head Economic"/>
          <p:cNvSpPr txBox="1"/>
          <p:nvPr/>
        </p:nvSpPr>
        <p:spPr>
          <a:xfrm>
            <a:off x="4434840" y="1828800"/>
            <a:ext cx="3154680"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Economic</a:t>
            </a:r>
            <a:endParaRPr lang="en-US" sz="1800" dirty="0"/>
          </a:p>
        </p:txBody>
      </p:sp>
      <p:sp>
        <p:nvSpPr>
          <p:cNvPr id="12" name="card body Economic"/>
          <p:cNvSpPr txBox="1"/>
          <p:nvPr/>
        </p:nvSpPr>
        <p:spPr>
          <a:xfrm>
            <a:off x="4434840" y="2286000"/>
            <a:ext cx="3154680" cy="10972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No licence cost; a few CPU-hours on an existing laptop; realistic FPR estimates reduce triage workload</a:t>
            </a:r>
            <a:endParaRPr lang="en-US" sz="1500" dirty="0"/>
          </a:p>
        </p:txBody>
      </p:sp>
      <p:sp>
        <p:nvSpPr>
          <p:cNvPr id="13" name="card Social"/>
          <p:cNvSpPr/>
          <p:nvPr/>
        </p:nvSpPr>
        <p:spPr>
          <a:xfrm>
            <a:off x="7955280" y="1691640"/>
            <a:ext cx="3611880" cy="1828800"/>
          </a:xfrm>
          <a:prstGeom prst="roundRect">
            <a:avLst>
              <a:gd name="adj" fmla="val 4000"/>
            </a:avLst>
          </a:prstGeom>
          <a:solidFill>
            <a:srgbClr val="F3F5F9"/>
          </a:solidFill>
          <a:ln w="12700">
            <a:solidFill>
              <a:srgbClr val="F3F5F9"/>
            </a:solidFill>
            <a:prstDash val="solid"/>
          </a:ln>
        </p:spPr>
        <p:txBody>
          <a:bodyPr/>
          <a:lstStyle/>
          <a:p>
            <a:endParaRPr lang="en-IN"/>
          </a:p>
        </p:txBody>
      </p:sp>
      <p:sp>
        <p:nvSpPr>
          <p:cNvPr id="14" name="card head Social"/>
          <p:cNvSpPr txBox="1"/>
          <p:nvPr/>
        </p:nvSpPr>
        <p:spPr>
          <a:xfrm>
            <a:off x="8138160" y="1828800"/>
            <a:ext cx="3246120"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Social</a:t>
            </a:r>
            <a:endParaRPr lang="en-US" sz="1800" dirty="0"/>
          </a:p>
        </p:txBody>
      </p:sp>
      <p:sp>
        <p:nvSpPr>
          <p:cNvPr id="15" name="card body Social"/>
          <p:cNvSpPr txBox="1"/>
          <p:nvPr/>
        </p:nvSpPr>
        <p:spPr>
          <a:xfrm>
            <a:off x="8138160" y="2286000"/>
            <a:ext cx="3246120" cy="109728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Metadata only, no decryption; no new attack capability; improves comparability of published results</a:t>
            </a:r>
            <a:endParaRPr lang="en-US" sz="15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3794760"/>
          <a:ext cx="11091672" cy="2286000"/>
        </p:xfrm>
        <a:graphic>
          <a:graphicData uri="http://schemas.openxmlformats.org/drawingml/2006/table">
            <a:tbl>
              <a:tblPr/>
              <a:tblGrid>
                <a:gridCol w="146304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1463040">
                  <a:extLst>
                    <a:ext uri="{9D8B030D-6E8A-4147-A177-3AD203B41FA5}">
                      <a16:colId xmlns:a16="http://schemas.microsoft.com/office/drawing/2014/main" val="20002"/>
                    </a:ext>
                  </a:extLst>
                </a:gridCol>
                <a:gridCol w="4599432">
                  <a:extLst>
                    <a:ext uri="{9D8B030D-6E8A-4147-A177-3AD203B41FA5}">
                      <a16:colId xmlns:a16="http://schemas.microsoft.com/office/drawing/2014/main" val="20003"/>
                    </a:ext>
                  </a:extLst>
                </a:gridCol>
              </a:tblGrid>
              <a:tr h="457200">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Hardware</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Software</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extLst>
                  <a:ext uri="{0D108BD9-81ED-4DB2-BD59-A6C34878D82A}">
                    <a16:rowId xmlns:a16="http://schemas.microsoft.com/office/drawing/2014/main" val="10000"/>
                  </a:ext>
                </a:extLst>
              </a:tr>
              <a:tr h="457200">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Processor</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AMD Ryzen 7 7735HS, 8C/16T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OS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Windows 11 Home (26200)</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Memory</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16 GB (peak use 4.1–5.7 GB)</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Language</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Python 3.13.1</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GPU</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RTX 4050 Laptop (not required)</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Libraries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pandas 2.2.3, NumPy 2.2.6, scikit-learn 1.6.1</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Storage</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SSD, ~1.8 GB data</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XGBoost 3.4.1, SciPy 1.15.3, Matplotlib 3.10.3</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04</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DESIGN APPROACH AND DETAILS</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System architecture</a:t>
            </a:r>
            <a:endParaRPr lang="en-US" sz="3200" dirty="0"/>
          </a:p>
        </p:txBody>
      </p:sp>
      <p:pic>
        <p:nvPicPr>
          <p:cNvPr id="7" name="fig_architecture" descr="Layered system architecture"/>
          <p:cNvPicPr>
            <a:picLocks noChangeAspect="1"/>
          </p:cNvPicPr>
          <p:nvPr/>
        </p:nvPicPr>
        <p:blipFill>
          <a:blip r:embed="rId3"/>
          <a:stretch>
            <a:fillRect/>
          </a:stretch>
        </p:blipFill>
        <p:spPr>
          <a:xfrm>
            <a:off x="1557591" y="1600200"/>
            <a:ext cx="9076514" cy="475488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04</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DESIGN APPROACH AND DETAILS</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Algorithm 1: leakage-aware hierarchical evaluation</a:t>
            </a:r>
            <a:endParaRPr lang="en-US" sz="3200" dirty="0"/>
          </a:p>
        </p:txBody>
      </p:sp>
      <p:sp>
        <p:nvSpPr>
          <p:cNvPr id="7" name="algorithm steps"/>
          <p:cNvSpPr txBox="1"/>
          <p:nvPr/>
        </p:nvSpPr>
        <p:spPr>
          <a:xfrm>
            <a:off x="548640" y="1645920"/>
            <a:ext cx="5486400" cy="4572000"/>
          </a:xfrm>
          <a:prstGeom prst="rect">
            <a:avLst/>
          </a:prstGeom>
          <a:noFill/>
          <a:ln/>
        </p:spPr>
        <p:txBody>
          <a:bodyPr wrap="square" lIns="635" tIns="635" rIns="635" bIns="635" rtlCol="0" anchor="t"/>
          <a:lstStyle/>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Remove records with missing or infinite values</a:t>
            </a:r>
            <a:endParaRPr lang="en-US" sz="1500" dirty="0"/>
          </a:p>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Hash every feature vector; build duplicate groups and the conflict set C</a:t>
            </a:r>
            <a:endParaRPr lang="en-US" sz="1500" dirty="0"/>
          </a:p>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Resolve duplicates with a policy: drop-conflicts, keep-first, majority or none</a:t>
            </a:r>
            <a:endParaRPr lang="en-US" sz="1500" dirty="0"/>
          </a:p>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For each seed, split 80/20 per label: random, Flow-ID groups, time blocks, per-class chronological</a:t>
            </a:r>
            <a:endParaRPr lang="en-US" sz="1500" dirty="0"/>
          </a:p>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Assert identical feature order at training and prediction</a:t>
            </a:r>
            <a:endParaRPr lang="en-US" sz="1500" dirty="0"/>
          </a:p>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Train Stage 1 (benign vs malicious) and Stage 2 (attack family / type)</a:t>
            </a:r>
            <a:endParaRPr lang="en-US" sz="1500" dirty="0"/>
          </a:p>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Score detection, and attribution on true attacks, on flagged flows and end to end</a:t>
            </a:r>
            <a:endParaRPr lang="en-US" sz="1500" dirty="0"/>
          </a:p>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Report mean, SD and range over seeds; Wilson intervals per class</a:t>
            </a:r>
            <a:endParaRPr lang="en-US" sz="1500" dirty="0"/>
          </a:p>
        </p:txBody>
      </p:sp>
      <p:sp>
        <p:nvSpPr>
          <p:cNvPr id="8" name="equation panel"/>
          <p:cNvSpPr/>
          <p:nvPr/>
        </p:nvSpPr>
        <p:spPr>
          <a:xfrm>
            <a:off x="6263640" y="1645920"/>
            <a:ext cx="5376672" cy="4617720"/>
          </a:xfrm>
          <a:prstGeom prst="roundRect">
            <a:avLst>
              <a:gd name="adj" fmla="val 1584"/>
            </a:avLst>
          </a:prstGeom>
          <a:solidFill>
            <a:srgbClr val="F3F5F9"/>
          </a:solidFill>
          <a:ln w="12700">
            <a:solidFill>
              <a:srgbClr val="F3F5F9"/>
            </a:solidFill>
            <a:prstDash val="solid"/>
          </a:ln>
        </p:spPr>
        <p:txBody>
          <a:bodyPr/>
          <a:lstStyle/>
          <a:p>
            <a:endParaRPr lang="en-IN"/>
          </a:p>
        </p:txBody>
      </p:sp>
      <p:sp>
        <p:nvSpPr>
          <p:cNvPr id="9" name="label Conflict set"/>
          <p:cNvSpPr txBox="1"/>
          <p:nvPr/>
        </p:nvSpPr>
        <p:spPr>
          <a:xfrm>
            <a:off x="6492240" y="1828800"/>
            <a:ext cx="4919472" cy="292608"/>
          </a:xfrm>
          <a:prstGeom prst="rect">
            <a:avLst/>
          </a:prstGeom>
          <a:noFill/>
          <a:ln/>
        </p:spPr>
        <p:txBody>
          <a:bodyPr wrap="square" lIns="0" tIns="0" rIns="0" bIns="0" rtlCol="0" anchor="ctr"/>
          <a:lstStyle/>
          <a:p>
            <a:pPr marL="0" indent="0">
              <a:buNone/>
            </a:pPr>
            <a:r>
              <a:rPr lang="en-US" sz="1300" b="1" dirty="0">
                <a:solidFill>
                  <a:srgbClr val="52514E"/>
                </a:solidFill>
                <a:latin typeface="Calibri" pitchFamily="34" charset="0"/>
                <a:ea typeface="Calibri" pitchFamily="34" charset="-122"/>
                <a:cs typeface="Calibri" pitchFamily="34" charset="-120"/>
              </a:rPr>
              <a:t>Conflict set</a:t>
            </a:r>
            <a:endParaRPr lang="en-US" sz="1300" dirty="0"/>
          </a:p>
        </p:txBody>
      </p:sp>
      <p:pic>
        <p:nvPicPr>
          <p:cNvPr id="10" name="eq_conflict" descr="equation: conflict"/>
          <p:cNvPicPr>
            <a:picLocks noChangeAspect="1"/>
          </p:cNvPicPr>
          <p:nvPr/>
        </p:nvPicPr>
        <p:blipFill>
          <a:blip r:embed="rId3"/>
          <a:stretch>
            <a:fillRect/>
          </a:stretch>
        </p:blipFill>
        <p:spPr>
          <a:xfrm>
            <a:off x="6492240" y="2157984"/>
            <a:ext cx="2870955" cy="329184"/>
          </a:xfrm>
          <a:prstGeom prst="rect">
            <a:avLst/>
          </a:prstGeom>
        </p:spPr>
      </p:pic>
      <p:sp>
        <p:nvSpPr>
          <p:cNvPr id="11" name="label Chronological split and purge, per label"/>
          <p:cNvSpPr txBox="1"/>
          <p:nvPr/>
        </p:nvSpPr>
        <p:spPr>
          <a:xfrm>
            <a:off x="6492240" y="2688336"/>
            <a:ext cx="4919472" cy="292608"/>
          </a:xfrm>
          <a:prstGeom prst="rect">
            <a:avLst/>
          </a:prstGeom>
          <a:noFill/>
          <a:ln/>
        </p:spPr>
        <p:txBody>
          <a:bodyPr wrap="square" lIns="0" tIns="0" rIns="0" bIns="0" rtlCol="0" anchor="ctr"/>
          <a:lstStyle/>
          <a:p>
            <a:pPr marL="0" indent="0">
              <a:buNone/>
            </a:pPr>
            <a:r>
              <a:rPr lang="en-US" sz="1300" b="1" dirty="0">
                <a:solidFill>
                  <a:srgbClr val="52514E"/>
                </a:solidFill>
                <a:latin typeface="Calibri" pitchFamily="34" charset="0"/>
                <a:ea typeface="Calibri" pitchFamily="34" charset="-122"/>
                <a:cs typeface="Calibri" pitchFamily="34" charset="-120"/>
              </a:rPr>
              <a:t>Chronological split and purge, per label</a:t>
            </a:r>
            <a:endParaRPr lang="en-US" sz="1300" dirty="0"/>
          </a:p>
        </p:txBody>
      </p:sp>
      <p:pic>
        <p:nvPicPr>
          <p:cNvPr id="12" name="eq_forward" descr="equation: forward"/>
          <p:cNvPicPr>
            <a:picLocks noChangeAspect="1"/>
          </p:cNvPicPr>
          <p:nvPr/>
        </p:nvPicPr>
        <p:blipFill>
          <a:blip r:embed="rId4"/>
          <a:stretch>
            <a:fillRect/>
          </a:stretch>
        </p:blipFill>
        <p:spPr>
          <a:xfrm>
            <a:off x="6492240" y="3017520"/>
            <a:ext cx="4199668" cy="329184"/>
          </a:xfrm>
          <a:prstGeom prst="rect">
            <a:avLst/>
          </a:prstGeom>
        </p:spPr>
      </p:pic>
      <p:sp>
        <p:nvSpPr>
          <p:cNvPr id="13" name="label Time blocks"/>
          <p:cNvSpPr txBox="1"/>
          <p:nvPr/>
        </p:nvSpPr>
        <p:spPr>
          <a:xfrm>
            <a:off x="6492240" y="3547872"/>
            <a:ext cx="4919472" cy="292608"/>
          </a:xfrm>
          <a:prstGeom prst="rect">
            <a:avLst/>
          </a:prstGeom>
          <a:noFill/>
          <a:ln/>
        </p:spPr>
        <p:txBody>
          <a:bodyPr wrap="square" lIns="0" tIns="0" rIns="0" bIns="0" rtlCol="0" anchor="ctr"/>
          <a:lstStyle/>
          <a:p>
            <a:pPr marL="0" indent="0">
              <a:buNone/>
            </a:pPr>
            <a:r>
              <a:rPr lang="en-US" sz="1300" b="1" dirty="0">
                <a:solidFill>
                  <a:srgbClr val="52514E"/>
                </a:solidFill>
                <a:latin typeface="Calibri" pitchFamily="34" charset="0"/>
                <a:ea typeface="Calibri" pitchFamily="34" charset="-122"/>
                <a:cs typeface="Calibri" pitchFamily="34" charset="-120"/>
              </a:rPr>
              <a:t>Time blocks</a:t>
            </a:r>
            <a:endParaRPr lang="en-US" sz="1300" dirty="0"/>
          </a:p>
        </p:txBody>
      </p:sp>
      <p:pic>
        <p:nvPicPr>
          <p:cNvPr id="14" name="eq_block" descr="equation: block"/>
          <p:cNvPicPr>
            <a:picLocks noChangeAspect="1"/>
          </p:cNvPicPr>
          <p:nvPr/>
        </p:nvPicPr>
        <p:blipFill>
          <a:blip r:embed="rId5"/>
          <a:stretch>
            <a:fillRect/>
          </a:stretch>
        </p:blipFill>
        <p:spPr>
          <a:xfrm>
            <a:off x="6492240" y="3877056"/>
            <a:ext cx="3653190" cy="502920"/>
          </a:xfrm>
          <a:prstGeom prst="rect">
            <a:avLst/>
          </a:prstGeom>
        </p:spPr>
      </p:pic>
      <p:sp>
        <p:nvSpPr>
          <p:cNvPr id="15" name="label Hierarchical prediction"/>
          <p:cNvSpPr txBox="1"/>
          <p:nvPr/>
        </p:nvSpPr>
        <p:spPr>
          <a:xfrm>
            <a:off x="6492240" y="4581144"/>
            <a:ext cx="4919472" cy="292608"/>
          </a:xfrm>
          <a:prstGeom prst="rect">
            <a:avLst/>
          </a:prstGeom>
          <a:noFill/>
          <a:ln/>
        </p:spPr>
        <p:txBody>
          <a:bodyPr wrap="square" lIns="0" tIns="0" rIns="0" bIns="0" rtlCol="0" anchor="ctr"/>
          <a:lstStyle/>
          <a:p>
            <a:pPr marL="0" indent="0">
              <a:buNone/>
            </a:pPr>
            <a:r>
              <a:rPr lang="en-US" sz="1300" b="1" dirty="0">
                <a:solidFill>
                  <a:srgbClr val="52514E"/>
                </a:solidFill>
                <a:latin typeface="Calibri" pitchFamily="34" charset="0"/>
                <a:ea typeface="Calibri" pitchFamily="34" charset="-122"/>
                <a:cs typeface="Calibri" pitchFamily="34" charset="-120"/>
              </a:rPr>
              <a:t>Hierarchical prediction</a:t>
            </a:r>
            <a:endParaRPr lang="en-US" sz="1300" dirty="0"/>
          </a:p>
        </p:txBody>
      </p:sp>
      <p:pic>
        <p:nvPicPr>
          <p:cNvPr id="16" name="eq_hier" descr="equation: hier"/>
          <p:cNvPicPr>
            <a:picLocks noChangeAspect="1"/>
          </p:cNvPicPr>
          <p:nvPr/>
        </p:nvPicPr>
        <p:blipFill>
          <a:blip r:embed="rId6"/>
          <a:stretch>
            <a:fillRect/>
          </a:stretch>
        </p:blipFill>
        <p:spPr>
          <a:xfrm>
            <a:off x="6492240" y="4910328"/>
            <a:ext cx="4919472" cy="325973"/>
          </a:xfrm>
          <a:prstGeom prst="rect">
            <a:avLst/>
          </a:prstGeom>
        </p:spPr>
      </p:pic>
      <p:sp>
        <p:nvSpPr>
          <p:cNvPr id="17" name="label Material difference (noise floor 0.013)"/>
          <p:cNvSpPr txBox="1"/>
          <p:nvPr/>
        </p:nvSpPr>
        <p:spPr>
          <a:xfrm>
            <a:off x="6492240" y="5437469"/>
            <a:ext cx="4919472" cy="292608"/>
          </a:xfrm>
          <a:prstGeom prst="rect">
            <a:avLst/>
          </a:prstGeom>
          <a:noFill/>
          <a:ln/>
        </p:spPr>
        <p:txBody>
          <a:bodyPr wrap="square" lIns="0" tIns="0" rIns="0" bIns="0" rtlCol="0" anchor="ctr"/>
          <a:lstStyle/>
          <a:p>
            <a:pPr marL="0" indent="0">
              <a:buNone/>
            </a:pPr>
            <a:r>
              <a:rPr lang="en-US" sz="1300" b="1" dirty="0">
                <a:solidFill>
                  <a:srgbClr val="52514E"/>
                </a:solidFill>
                <a:latin typeface="Calibri" pitchFamily="34" charset="0"/>
                <a:ea typeface="Calibri" pitchFamily="34" charset="-122"/>
                <a:cs typeface="Calibri" pitchFamily="34" charset="-120"/>
              </a:rPr>
              <a:t>Material difference (noise floor 0.013)</a:t>
            </a:r>
            <a:endParaRPr lang="en-US" sz="1300" dirty="0"/>
          </a:p>
        </p:txBody>
      </p:sp>
      <p:pic>
        <p:nvPicPr>
          <p:cNvPr id="18" name="eq_noise" descr="equation: noise"/>
          <p:cNvPicPr>
            <a:picLocks noChangeAspect="1"/>
          </p:cNvPicPr>
          <p:nvPr/>
        </p:nvPicPr>
        <p:blipFill>
          <a:blip r:embed="rId7"/>
          <a:stretch>
            <a:fillRect/>
          </a:stretch>
        </p:blipFill>
        <p:spPr>
          <a:xfrm>
            <a:off x="6492240" y="5766653"/>
            <a:ext cx="2969917" cy="411480"/>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04</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DESIGN APPROACH AND DETAILS</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Algorithm 2: shift diagnosis and label-free mitigation</a:t>
            </a:r>
            <a:endParaRPr lang="en-US" sz="3200" dirty="0"/>
          </a:p>
        </p:txBody>
      </p:sp>
      <p:sp>
        <p:nvSpPr>
          <p:cNvPr id="7" name="algorithm steps"/>
          <p:cNvSpPr txBox="1"/>
          <p:nvPr/>
        </p:nvSpPr>
        <p:spPr>
          <a:xfrm>
            <a:off x="548640" y="1645920"/>
            <a:ext cx="5486400" cy="4572000"/>
          </a:xfrm>
          <a:prstGeom prst="rect">
            <a:avLst/>
          </a:prstGeom>
          <a:noFill/>
          <a:ln/>
        </p:spPr>
        <p:txBody>
          <a:bodyPr wrap="square" lIns="635" tIns="635" rIns="635" bIns="635" rtlCol="0" anchor="t"/>
          <a:lstStyle/>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Align 2018 features to 2017 names (75 shared); map labels to Benign, DoS/DDoS, Web Attack</a:t>
            </a:r>
            <a:endParaRPr lang="en-US" sz="1500" dirty="0"/>
          </a:p>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Verify the unit identities for Benign and DoS Hulk in both years</a:t>
            </a:r>
            <a:endParaRPr lang="en-US" sz="1500" dirty="0"/>
          </a:p>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Compute the KS statistic per feature and class on 100 000-row samples</a:t>
            </a:r>
            <a:endParaRPr lang="en-US" sz="1500" dirty="0"/>
          </a:p>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Adversarial validation: AUC of a classifier separating 2017 from 2018</a:t>
            </a:r>
            <a:endParaRPr lang="en-US" sz="1500" dirty="0"/>
          </a:p>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For each transformation T, fit on 2017 training data and on unlabelled 2018 data</a:t>
            </a:r>
            <a:endParaRPr lang="en-US" sz="1500" dirty="0"/>
          </a:p>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Train on T(2017), score on T(2017 test) and T(2018); compute G(T)</a:t>
            </a:r>
            <a:endParaRPr lang="en-US" sz="1500" dirty="0"/>
          </a:p>
          <a:p>
            <a:pPr marL="342900" indent="-342900">
              <a:spcAft>
                <a:spcPts val="700"/>
              </a:spcAft>
              <a:buSzPct val="100000"/>
              <a:buFont typeface="+mj-lt"/>
              <a:buAutoNum type="arabicPeriod"/>
            </a:pPr>
            <a:r>
              <a:rPr lang="en-US" sz="1500" dirty="0">
                <a:solidFill>
                  <a:schemeClr val="tx1"/>
                </a:solidFill>
                <a:latin typeface="Calibri" pitchFamily="34" charset="0"/>
                <a:ea typeface="Calibri" pitchFamily="34" charset="-122"/>
                <a:cs typeface="Calibri" pitchFamily="34" charset="-120"/>
              </a:rPr>
              <a:t>Controls: train and test on 2018; reverse 2018 → 2017; score 2018 without deduplication</a:t>
            </a:r>
            <a:endParaRPr lang="en-US" sz="1500" dirty="0"/>
          </a:p>
        </p:txBody>
      </p:sp>
      <p:sp>
        <p:nvSpPr>
          <p:cNvPr id="8" name="equation panel"/>
          <p:cNvSpPr/>
          <p:nvPr/>
        </p:nvSpPr>
        <p:spPr>
          <a:xfrm>
            <a:off x="6263640" y="1645920"/>
            <a:ext cx="5376672" cy="4617720"/>
          </a:xfrm>
          <a:prstGeom prst="roundRect">
            <a:avLst>
              <a:gd name="adj" fmla="val 1584"/>
            </a:avLst>
          </a:prstGeom>
          <a:solidFill>
            <a:srgbClr val="F3F5F9"/>
          </a:solidFill>
          <a:ln w="12700">
            <a:solidFill>
              <a:srgbClr val="F3F5F9"/>
            </a:solidFill>
            <a:prstDash val="solid"/>
          </a:ln>
        </p:spPr>
        <p:txBody>
          <a:bodyPr/>
          <a:lstStyle/>
          <a:p>
            <a:endParaRPr lang="en-IN"/>
          </a:p>
        </p:txBody>
      </p:sp>
      <p:sp>
        <p:nvSpPr>
          <p:cNvPr id="9" name="label Unit identities (µs, per second)"/>
          <p:cNvSpPr txBox="1"/>
          <p:nvPr/>
        </p:nvSpPr>
        <p:spPr>
          <a:xfrm>
            <a:off x="6492240" y="1828800"/>
            <a:ext cx="4919472" cy="292608"/>
          </a:xfrm>
          <a:prstGeom prst="rect">
            <a:avLst/>
          </a:prstGeom>
          <a:noFill/>
          <a:ln/>
        </p:spPr>
        <p:txBody>
          <a:bodyPr wrap="square" lIns="0" tIns="0" rIns="0" bIns="0" rtlCol="0" anchor="ctr"/>
          <a:lstStyle/>
          <a:p>
            <a:pPr marL="0" indent="0">
              <a:buNone/>
            </a:pPr>
            <a:r>
              <a:rPr lang="en-US" sz="1300" b="1" dirty="0">
                <a:solidFill>
                  <a:srgbClr val="52514E"/>
                </a:solidFill>
                <a:latin typeface="Calibri" pitchFamily="34" charset="0"/>
                <a:ea typeface="Calibri" pitchFamily="34" charset="-122"/>
                <a:cs typeface="Calibri" pitchFamily="34" charset="-120"/>
              </a:rPr>
              <a:t>Unit identities (µs, per second)</a:t>
            </a:r>
            <a:endParaRPr lang="en-US" sz="1300" dirty="0"/>
          </a:p>
        </p:txBody>
      </p:sp>
      <p:pic>
        <p:nvPicPr>
          <p:cNvPr id="10" name="eq_units" descr="equation: units"/>
          <p:cNvPicPr>
            <a:picLocks noChangeAspect="1"/>
          </p:cNvPicPr>
          <p:nvPr/>
        </p:nvPicPr>
        <p:blipFill>
          <a:blip r:embed="rId3"/>
          <a:stretch>
            <a:fillRect/>
          </a:stretch>
        </p:blipFill>
        <p:spPr>
          <a:xfrm>
            <a:off x="6492240" y="2157984"/>
            <a:ext cx="4919472" cy="503081"/>
          </a:xfrm>
          <a:prstGeom prst="rect">
            <a:avLst/>
          </a:prstGeom>
        </p:spPr>
      </p:pic>
      <p:sp>
        <p:nvSpPr>
          <p:cNvPr id="11" name="label Per-feature shift"/>
          <p:cNvSpPr txBox="1"/>
          <p:nvPr/>
        </p:nvSpPr>
        <p:spPr>
          <a:xfrm>
            <a:off x="6492240" y="2862233"/>
            <a:ext cx="4919472" cy="292608"/>
          </a:xfrm>
          <a:prstGeom prst="rect">
            <a:avLst/>
          </a:prstGeom>
          <a:noFill/>
          <a:ln/>
        </p:spPr>
        <p:txBody>
          <a:bodyPr wrap="square" lIns="0" tIns="0" rIns="0" bIns="0" rtlCol="0" anchor="ctr"/>
          <a:lstStyle/>
          <a:p>
            <a:pPr marL="0" indent="0">
              <a:buNone/>
            </a:pPr>
            <a:r>
              <a:rPr lang="en-US" sz="1300" b="1" dirty="0">
                <a:solidFill>
                  <a:srgbClr val="52514E"/>
                </a:solidFill>
                <a:latin typeface="Calibri" pitchFamily="34" charset="0"/>
                <a:ea typeface="Calibri" pitchFamily="34" charset="-122"/>
                <a:cs typeface="Calibri" pitchFamily="34" charset="-120"/>
              </a:rPr>
              <a:t>Per-feature shift</a:t>
            </a:r>
            <a:endParaRPr lang="en-US" sz="1300" dirty="0"/>
          </a:p>
        </p:txBody>
      </p:sp>
      <p:pic>
        <p:nvPicPr>
          <p:cNvPr id="12" name="eq_ks" descr="equation: ks"/>
          <p:cNvPicPr>
            <a:picLocks noChangeAspect="1"/>
          </p:cNvPicPr>
          <p:nvPr/>
        </p:nvPicPr>
        <p:blipFill>
          <a:blip r:embed="rId4"/>
          <a:stretch>
            <a:fillRect/>
          </a:stretch>
        </p:blipFill>
        <p:spPr>
          <a:xfrm>
            <a:off x="6492240" y="3191417"/>
            <a:ext cx="2709438" cy="384048"/>
          </a:xfrm>
          <a:prstGeom prst="rect">
            <a:avLst/>
          </a:prstGeom>
        </p:spPr>
      </p:pic>
      <p:sp>
        <p:nvSpPr>
          <p:cNvPr id="13" name="label Label-free transformations"/>
          <p:cNvSpPr txBox="1"/>
          <p:nvPr/>
        </p:nvSpPr>
        <p:spPr>
          <a:xfrm>
            <a:off x="6492240" y="3776633"/>
            <a:ext cx="4919472" cy="292608"/>
          </a:xfrm>
          <a:prstGeom prst="rect">
            <a:avLst/>
          </a:prstGeom>
          <a:noFill/>
          <a:ln/>
        </p:spPr>
        <p:txBody>
          <a:bodyPr wrap="square" lIns="0" tIns="0" rIns="0" bIns="0" rtlCol="0" anchor="ctr"/>
          <a:lstStyle/>
          <a:p>
            <a:pPr marL="0" indent="0">
              <a:buNone/>
            </a:pPr>
            <a:r>
              <a:rPr lang="en-US" sz="1300" b="1" dirty="0">
                <a:solidFill>
                  <a:srgbClr val="52514E"/>
                </a:solidFill>
                <a:latin typeface="Calibri" pitchFamily="34" charset="0"/>
                <a:ea typeface="Calibri" pitchFamily="34" charset="-122"/>
                <a:cs typeface="Calibri" pitchFamily="34" charset="-120"/>
              </a:rPr>
              <a:t>Label-free transformations</a:t>
            </a:r>
            <a:endParaRPr lang="en-US" sz="1300" dirty="0"/>
          </a:p>
        </p:txBody>
      </p:sp>
      <p:pic>
        <p:nvPicPr>
          <p:cNvPr id="14" name="eq_transforms" descr="equation: transforms"/>
          <p:cNvPicPr>
            <a:picLocks noChangeAspect="1"/>
          </p:cNvPicPr>
          <p:nvPr/>
        </p:nvPicPr>
        <p:blipFill>
          <a:blip r:embed="rId5"/>
          <a:stretch>
            <a:fillRect/>
          </a:stretch>
        </p:blipFill>
        <p:spPr>
          <a:xfrm>
            <a:off x="6492240" y="4105817"/>
            <a:ext cx="4384087" cy="548640"/>
          </a:xfrm>
          <a:prstGeom prst="rect">
            <a:avLst/>
          </a:prstGeom>
        </p:spPr>
      </p:pic>
      <p:sp>
        <p:nvSpPr>
          <p:cNvPr id="15" name="label Share of the gap recovered"/>
          <p:cNvSpPr txBox="1"/>
          <p:nvPr/>
        </p:nvSpPr>
        <p:spPr>
          <a:xfrm>
            <a:off x="6492240" y="4855625"/>
            <a:ext cx="4919472" cy="292608"/>
          </a:xfrm>
          <a:prstGeom prst="rect">
            <a:avLst/>
          </a:prstGeom>
          <a:noFill/>
          <a:ln/>
        </p:spPr>
        <p:txBody>
          <a:bodyPr wrap="square" lIns="0" tIns="0" rIns="0" bIns="0" rtlCol="0" anchor="ctr"/>
          <a:lstStyle/>
          <a:p>
            <a:pPr marL="0" indent="0">
              <a:buNone/>
            </a:pPr>
            <a:r>
              <a:rPr lang="en-US" sz="1300" b="1" dirty="0">
                <a:solidFill>
                  <a:srgbClr val="52514E"/>
                </a:solidFill>
                <a:latin typeface="Calibri" pitchFamily="34" charset="0"/>
                <a:ea typeface="Calibri" pitchFamily="34" charset="-122"/>
                <a:cs typeface="Calibri" pitchFamily="34" charset="-120"/>
              </a:rPr>
              <a:t>Share of the gap recovered</a:t>
            </a:r>
            <a:endParaRPr lang="en-US" sz="1300" dirty="0"/>
          </a:p>
        </p:txBody>
      </p:sp>
      <p:pic>
        <p:nvPicPr>
          <p:cNvPr id="16" name="eq_gap" descr="equation: gap"/>
          <p:cNvPicPr>
            <a:picLocks noChangeAspect="1"/>
          </p:cNvPicPr>
          <p:nvPr/>
        </p:nvPicPr>
        <p:blipFill>
          <a:blip r:embed="rId6"/>
          <a:stretch>
            <a:fillRect/>
          </a:stretch>
        </p:blipFill>
        <p:spPr>
          <a:xfrm>
            <a:off x="6492240" y="5184809"/>
            <a:ext cx="2854127" cy="621792"/>
          </a:xfrm>
          <a:prstGeom prst="rect">
            <a:avLst/>
          </a:prstGeom>
        </p:spPr>
      </p:pic>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05</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EXPERIMENTAL SETUP AND OUTPUT</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Experimental setup</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120640" cy="2633472"/>
        </p:xfrm>
        <a:graphic>
          <a:graphicData uri="http://schemas.openxmlformats.org/drawingml/2006/table">
            <a:tbl>
              <a:tblPr/>
              <a:tblGrid>
                <a:gridCol w="192024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438912">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Item</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CICIDS2017</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CSE-CIC-IDS2018</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extLst>
                  <a:ext uri="{0D108BD9-81ED-4DB2-BD59-A6C34878D82A}">
                    <a16:rowId xmlns:a16="http://schemas.microsoft.com/office/drawing/2014/main" val="10000"/>
                  </a:ext>
                </a:extLst>
              </a:tr>
              <a:tr h="438912">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Valid flows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2,827,876</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2,091,539</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1"/>
                  </a:ext>
                </a:extLst>
              </a:tr>
              <a:tr h="438912">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Unique vectors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2,198,624</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1,420,222</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2"/>
                  </a:ext>
                </a:extLst>
              </a:tr>
              <a:tr h="438912">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Duplicate share</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22.25%</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32.10%</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3"/>
                  </a:ext>
                </a:extLst>
              </a:tr>
              <a:tr h="438912">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Conflicting vectors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309</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4"/>
                  </a:ext>
                </a:extLst>
              </a:tr>
              <a:tr h="438912">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Features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76</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75 aligned</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27" name="Table 1"/>
          <p:cNvGraphicFramePr>
            <a:graphicFrameLocks noGrp="1"/>
          </p:cNvGraphicFramePr>
          <p:nvPr>
            <p:extLst>
              <p:ext uri="{D42A27DB-BD31-4B8C-83A1-F6EECF244321}">
                <p14:modId xmlns:p14="http://schemas.microsoft.com/office/powerpoint/2010/main" val="1579011935"/>
              </p:ext>
            </p:extLst>
          </p:nvPr>
        </p:nvGraphicFramePr>
        <p:xfrm>
          <a:off x="6035040" y="1691640"/>
          <a:ext cx="5605272" cy="3621024"/>
        </p:xfrm>
        <a:graphic>
          <a:graphicData uri="http://schemas.openxmlformats.org/drawingml/2006/table">
            <a:tbl>
              <a:tblPr/>
              <a:tblGrid>
                <a:gridCol w="731520">
                  <a:extLst>
                    <a:ext uri="{9D8B030D-6E8A-4147-A177-3AD203B41FA5}">
                      <a16:colId xmlns:a16="http://schemas.microsoft.com/office/drawing/2014/main" val="20000"/>
                    </a:ext>
                  </a:extLst>
                </a:gridCol>
                <a:gridCol w="2862072">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1188720">
                  <a:extLst>
                    <a:ext uri="{9D8B030D-6E8A-4147-A177-3AD203B41FA5}">
                      <a16:colId xmlns:a16="http://schemas.microsoft.com/office/drawing/2014/main" val="20003"/>
                    </a:ext>
                  </a:extLst>
                </a:gridCol>
              </a:tblGrid>
              <a:tr h="384048">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Exp.</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Question</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Runs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Peak RAM</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extLst>
                  <a:ext uri="{0D108BD9-81ED-4DB2-BD59-A6C34878D82A}">
                    <a16:rowId xmlns:a16="http://schemas.microsoft.com/office/drawing/2014/main" val="10000"/>
                  </a:ext>
                </a:extLst>
              </a:tr>
              <a:tr h="38404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E2</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Seed variability</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14</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8.6 GB*</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1"/>
                  </a:ext>
                </a:extLst>
              </a:tr>
              <a:tr h="38404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E3</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Matched-family transfer</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5</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 5.6 GB</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2"/>
                  </a:ext>
                </a:extLst>
              </a:tr>
              <a:tr h="38404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E4</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Leakage vs chronology (5 protocols)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14</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4.4 GB</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3"/>
                  </a:ext>
                </a:extLst>
              </a:tr>
              <a:tr h="38404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E5</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Duplicate policies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5.5 GB</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4"/>
                  </a:ext>
                </a:extLst>
              </a:tr>
              <a:tr h="38404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E6</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Shift diagnosis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5.7 GB</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5"/>
                  </a:ext>
                </a:extLst>
              </a:tr>
              <a:tr h="38404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E7</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Mitigation and controls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30</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5.5 GB</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6"/>
                  </a:ext>
                </a:extLst>
              </a:tr>
              <a:tr h="38404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E8</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Test-set deduplication</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7"/>
                  </a:ext>
                </a:extLst>
              </a:tr>
              <a:tr h="38404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E9–10</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Split composition; false-positive audit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9" name="card Models"/>
          <p:cNvSpPr/>
          <p:nvPr/>
        </p:nvSpPr>
        <p:spPr>
          <a:xfrm>
            <a:off x="548640" y="4754880"/>
            <a:ext cx="5120640" cy="1463040"/>
          </a:xfrm>
          <a:prstGeom prst="roundRect">
            <a:avLst>
              <a:gd name="adj" fmla="val 5000"/>
            </a:avLst>
          </a:prstGeom>
          <a:solidFill>
            <a:srgbClr val="F3F5F9"/>
          </a:solidFill>
          <a:ln w="12700">
            <a:solidFill>
              <a:srgbClr val="F3F5F9"/>
            </a:solidFill>
            <a:prstDash val="solid"/>
          </a:ln>
        </p:spPr>
        <p:txBody>
          <a:bodyPr/>
          <a:lstStyle/>
          <a:p>
            <a:endParaRPr lang="en-IN"/>
          </a:p>
        </p:txBody>
      </p:sp>
      <p:sp>
        <p:nvSpPr>
          <p:cNvPr id="10" name="card head Models"/>
          <p:cNvSpPr txBox="1"/>
          <p:nvPr/>
        </p:nvSpPr>
        <p:spPr>
          <a:xfrm>
            <a:off x="731520" y="4892040"/>
            <a:ext cx="4754880" cy="411480"/>
          </a:xfrm>
          <a:prstGeom prst="rect">
            <a:avLst/>
          </a:prstGeom>
          <a:noFill/>
          <a:ln/>
        </p:spPr>
        <p:txBody>
          <a:bodyPr wrap="square" lIns="0" tIns="0" rIns="0" bIns="0" rtlCol="0" anchor="t"/>
          <a:lstStyle/>
          <a:p>
            <a:pPr marL="0" indent="0">
              <a:buNone/>
            </a:pPr>
            <a:r>
              <a:rPr lang="en-US" sz="1600" b="1" dirty="0">
                <a:solidFill>
                  <a:schemeClr val="tx2"/>
                </a:solidFill>
                <a:latin typeface="Cambria" pitchFamily="34" charset="0"/>
                <a:ea typeface="Cambria" pitchFamily="34" charset="-122"/>
                <a:cs typeface="Cambria" pitchFamily="34" charset="-120"/>
              </a:rPr>
              <a:t>Models</a:t>
            </a:r>
            <a:endParaRPr lang="en-US" sz="1600" dirty="0"/>
          </a:p>
        </p:txBody>
      </p:sp>
      <p:sp>
        <p:nvSpPr>
          <p:cNvPr id="11" name="card body Models"/>
          <p:cNvSpPr txBox="1"/>
          <p:nvPr/>
        </p:nvSpPr>
        <p:spPr>
          <a:xfrm>
            <a:off x="731520" y="5349240"/>
            <a:ext cx="4754880" cy="731520"/>
          </a:xfrm>
          <a:prstGeom prst="rect">
            <a:avLst/>
          </a:prstGeom>
          <a:noFill/>
          <a:ln/>
        </p:spPr>
        <p:txBody>
          <a:bodyPr wrap="square" lIns="0" tIns="0" rIns="0" bIns="0" rtlCol="0" anchor="t"/>
          <a:lstStyle/>
          <a:p>
            <a:pPr marL="0" indent="0">
              <a:buNone/>
            </a:pPr>
            <a:r>
              <a:rPr lang="en-US" sz="1400" dirty="0">
                <a:solidFill>
                  <a:schemeClr val="tx1"/>
                </a:solidFill>
                <a:latin typeface="Calibri" pitchFamily="34" charset="0"/>
                <a:ea typeface="Calibri" pitchFamily="34" charset="-122"/>
                <a:cs typeface="Calibri" pitchFamily="34" charset="-120"/>
              </a:rPr>
              <a:t>Random forest: 100 trees, depth 20, balanced weights</a:t>
            </a:r>
            <a:endParaRPr lang="en-US" sz="1400" dirty="0"/>
          </a:p>
          <a:p>
            <a:pPr marL="0" indent="0">
              <a:buNone/>
            </a:pPr>
            <a:r>
              <a:rPr lang="en-US" sz="1400" dirty="0">
                <a:solidFill>
                  <a:schemeClr val="tx1"/>
                </a:solidFill>
                <a:latin typeface="Calibri" pitchFamily="34" charset="0"/>
                <a:ea typeface="Calibri" pitchFamily="34" charset="-122"/>
                <a:cs typeface="Calibri" pitchFamily="34" charset="-120"/>
              </a:rPr>
              <a:t>XGBoost: 300 trees, depth 6, learning rate 0.1</a:t>
            </a:r>
            <a:endParaRPr lang="en-US" sz="1400" dirty="0"/>
          </a:p>
        </p:txBody>
      </p:sp>
      <p:sp>
        <p:nvSpPr>
          <p:cNvPr id="12" name="caption"/>
          <p:cNvSpPr txBox="1"/>
          <p:nvPr/>
        </p:nvSpPr>
        <p:spPr>
          <a:xfrm>
            <a:off x="6035040" y="5349240"/>
            <a:ext cx="5605272" cy="320040"/>
          </a:xfrm>
          <a:prstGeom prst="rect">
            <a:avLst/>
          </a:prstGeom>
          <a:noFill/>
          <a:ln/>
        </p:spPr>
        <p:txBody>
          <a:bodyPr wrap="square" lIns="0" tIns="0" rIns="0" bIns="0" rtlCol="0" anchor="ctr"/>
          <a:lstStyle/>
          <a:p>
            <a:pPr marL="0" indent="0">
              <a:buNone/>
            </a:pPr>
            <a:r>
              <a:rPr lang="en-US" sz="1100" i="1" dirty="0">
                <a:solidFill>
                  <a:srgbClr val="898781"/>
                </a:solidFill>
                <a:latin typeface="Calibri" pitchFamily="34" charset="0"/>
                <a:ea typeface="Calibri" pitchFamily="34" charset="-122"/>
                <a:cs typeface="Calibri" pitchFamily="34" charset="-120"/>
              </a:rPr>
              <a:t>* before the memory-bounded loader, which reproduced every metric exactly at a 4.13 GB peak.</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05</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EXPERIMENTAL SETUP AND OUTPUT</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Output: only the chronological splits lower the scores</a:t>
            </a:r>
            <a:endParaRPr lang="en-US" sz="3200" dirty="0"/>
          </a:p>
        </p:txBody>
      </p:sp>
      <p:graphicFrame>
        <p:nvGraphicFramePr>
          <p:cNvPr id="7" name="split protocol chart"/>
          <p:cNvGraphicFramePr/>
          <p:nvPr/>
        </p:nvGraphicFramePr>
        <p:xfrm>
          <a:off x="548640" y="1600200"/>
          <a:ext cx="768096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8" name="stat Change in malicious F1 from duplicates, sessions or time blocks"/>
          <p:cNvSpPr txBox="1"/>
          <p:nvPr/>
        </p:nvSpPr>
        <p:spPr>
          <a:xfrm>
            <a:off x="8549640" y="1828800"/>
            <a:ext cx="3108960" cy="822960"/>
          </a:xfrm>
          <a:prstGeom prst="rect">
            <a:avLst/>
          </a:prstGeom>
          <a:noFill/>
          <a:ln/>
        </p:spPr>
        <p:txBody>
          <a:bodyPr wrap="square" lIns="0" tIns="0" rIns="0" bIns="0" rtlCol="0" anchor="ctr"/>
          <a:lstStyle/>
          <a:p>
            <a:pPr marL="0" indent="0">
              <a:buNone/>
            </a:pPr>
            <a:r>
              <a:rPr lang="en-US" sz="4400" b="1" dirty="0">
                <a:solidFill>
                  <a:srgbClr val="2A78D6"/>
                </a:solidFill>
                <a:latin typeface="Calibri" pitchFamily="34" charset="0"/>
                <a:ea typeface="Calibri" pitchFamily="34" charset="-122"/>
                <a:cs typeface="Calibri" pitchFamily="34" charset="-120"/>
              </a:rPr>
              <a:t>≤ 0.004</a:t>
            </a:r>
            <a:endParaRPr lang="en-US" sz="4400" dirty="0"/>
          </a:p>
        </p:txBody>
      </p:sp>
      <p:sp>
        <p:nvSpPr>
          <p:cNvPr id="9" name="stat label Change in malicious F1 from duplicates, sessions or time blocks"/>
          <p:cNvSpPr txBox="1"/>
          <p:nvPr/>
        </p:nvSpPr>
        <p:spPr>
          <a:xfrm>
            <a:off x="8549640" y="2651760"/>
            <a:ext cx="3108960"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Change in malicious F1 from duplicates, sessions or time blocks</a:t>
            </a:r>
            <a:endParaRPr lang="en-US" sz="1400" dirty="0"/>
          </a:p>
        </p:txBody>
      </p:sp>
      <p:sp>
        <p:nvSpPr>
          <p:cNvPr id="10" name="stat Malicious F1 under the per-class chronological split (random split: 0.997)"/>
          <p:cNvSpPr txBox="1"/>
          <p:nvPr/>
        </p:nvSpPr>
        <p:spPr>
          <a:xfrm>
            <a:off x="8549640" y="3703320"/>
            <a:ext cx="3108960" cy="822960"/>
          </a:xfrm>
          <a:prstGeom prst="rect">
            <a:avLst/>
          </a:prstGeom>
          <a:noFill/>
          <a:ln/>
        </p:spPr>
        <p:txBody>
          <a:bodyPr wrap="square" lIns="0" tIns="0" rIns="0" bIns="0" rtlCol="0" anchor="ctr"/>
          <a:lstStyle/>
          <a:p>
            <a:pPr marL="0" indent="0">
              <a:buNone/>
            </a:pPr>
            <a:r>
              <a:rPr lang="en-US" sz="4400" b="1" dirty="0">
                <a:solidFill>
                  <a:srgbClr val="EB6834"/>
                </a:solidFill>
                <a:latin typeface="Calibri" pitchFamily="34" charset="0"/>
                <a:ea typeface="Calibri" pitchFamily="34" charset="-122"/>
                <a:cs typeface="Calibri" pitchFamily="34" charset="-120"/>
              </a:rPr>
              <a:t>0.903</a:t>
            </a:r>
            <a:endParaRPr lang="en-US" sz="4400" dirty="0"/>
          </a:p>
        </p:txBody>
      </p:sp>
      <p:sp>
        <p:nvSpPr>
          <p:cNvPr id="11" name="stat label Malicious F1 under the per-class chronological split (random split: 0.997)"/>
          <p:cNvSpPr txBox="1"/>
          <p:nvPr/>
        </p:nvSpPr>
        <p:spPr>
          <a:xfrm>
            <a:off x="8549640" y="4526280"/>
            <a:ext cx="3108960"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Malicious F1 under the per-class chronological split (random split: 0.997)</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05</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EXPERIMENTAL SETUP AND OUTPUT</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Output: the drop is benign false positives</a:t>
            </a:r>
            <a:endParaRPr lang="en-US" sz="3200" dirty="0"/>
          </a:p>
        </p:txBody>
      </p:sp>
      <p:graphicFrame>
        <p:nvGraphicFramePr>
          <p:cNvPr id="7" name="fpr chart"/>
          <p:cNvGraphicFramePr/>
          <p:nvPr/>
        </p:nvGraphicFramePr>
        <p:xfrm>
          <a:off x="548640" y="1645920"/>
          <a:ext cx="4754880" cy="4480560"/>
        </p:xfrm>
        <a:graphic>
          <a:graphicData uri="http://schemas.openxmlformats.org/drawingml/2006/chart">
            <c:chart xmlns:c="http://schemas.openxmlformats.org/drawingml/2006/chart" xmlns:r="http://schemas.openxmlformats.org/officeDocument/2006/relationships" r:id="rId3"/>
          </a:graphicData>
        </a:graphic>
      </p:graphicFrame>
      <p:pic>
        <p:nvPicPr>
          <p:cNvPr id="8" name="fig_class_recall" descr="Stage-1 recall per attack under three protocols"/>
          <p:cNvPicPr>
            <a:picLocks noChangeAspect="1"/>
          </p:cNvPicPr>
          <p:nvPr/>
        </p:nvPicPr>
        <p:blipFill>
          <a:blip r:embed="rId4"/>
          <a:stretch>
            <a:fillRect/>
          </a:stretch>
        </p:blipFill>
        <p:spPr>
          <a:xfrm>
            <a:off x="5577840" y="1645920"/>
            <a:ext cx="6035040" cy="3951300"/>
          </a:xfrm>
          <a:prstGeom prst="rect">
            <a:avLst/>
          </a:prstGeom>
        </p:spPr>
      </p:pic>
      <p:sp>
        <p:nvSpPr>
          <p:cNvPr id="9" name="caption"/>
          <p:cNvSpPr txBox="1"/>
          <p:nvPr/>
        </p:nvSpPr>
        <p:spPr>
          <a:xfrm>
            <a:off x="5577840" y="5806440"/>
            <a:ext cx="6035040" cy="320040"/>
          </a:xfrm>
          <a:prstGeom prst="rect">
            <a:avLst/>
          </a:prstGeom>
          <a:noFill/>
          <a:ln/>
        </p:spPr>
        <p:txBody>
          <a:bodyPr wrap="square" lIns="0" tIns="0" rIns="0" bIns="0" rtlCol="0" anchor="ctr"/>
          <a:lstStyle/>
          <a:p>
            <a:pPr marL="0" indent="0">
              <a:buNone/>
            </a:pPr>
            <a:r>
              <a:rPr lang="en-US" sz="1100" i="1" dirty="0">
                <a:solidFill>
                  <a:srgbClr val="898781"/>
                </a:solidFill>
                <a:latin typeface="Calibri" pitchFamily="34" charset="0"/>
                <a:ea typeface="Calibri" pitchFamily="34" charset="-122"/>
                <a:cs typeface="Calibri" pitchFamily="34" charset="-120"/>
              </a:rPr>
              <a:t>Stage-1 recall per attack (mean and range over two seeds)</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05</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EXPERIMENTAL SETUP AND OUTPUT</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Output: no global cutoff is possible on CICIDS2017</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6949440" cy="3291840"/>
        </p:xfrm>
        <a:graphic>
          <a:graphicData uri="http://schemas.openxmlformats.org/drawingml/2006/table">
            <a:tbl>
              <a:tblPr/>
              <a:tblGrid>
                <a:gridCol w="21031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173736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gridCol w="1005840">
                  <a:extLst>
                    <a:ext uri="{9D8B030D-6E8A-4147-A177-3AD203B41FA5}">
                      <a16:colId xmlns:a16="http://schemas.microsoft.com/office/drawing/2014/main" val="20004"/>
                    </a:ext>
                  </a:extLst>
                </a:gridCol>
              </a:tblGrid>
              <a:tr h="457200">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Global cutoff</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Train share</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Attack classes on both sides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Train only</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Test only</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extLst>
                  <a:ext uri="{0D108BD9-81ED-4DB2-BD59-A6C34878D82A}">
                    <a16:rowId xmlns:a16="http://schemas.microsoft.com/office/drawing/2014/main" val="10000"/>
                  </a:ext>
                </a:extLst>
              </a:tr>
              <a:tr h="457200">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Wed 10:57 (50th pct.)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50%</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2 of 14</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9</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1"/>
                  </a:ext>
                </a:extLst>
              </a:tr>
              <a:tr h="457200">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Wed 15:13 (60th pct.)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60%</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1 of 14</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6</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7</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2"/>
                  </a:ext>
                </a:extLst>
              </a:tr>
              <a:tr h="457200">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Thu 13:10 (70th pct.)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70%</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0 of 14</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10</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4</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3"/>
                  </a:ext>
                </a:extLst>
              </a:tr>
              <a:tr h="457200">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Fri 09:52 (80th pct.)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80%</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1 of 14</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2</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4"/>
                  </a:ext>
                </a:extLst>
              </a:tr>
              <a:tr h="457200">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Fri 15:22 (90th pct.)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90%</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1 of 14</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12</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1</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5"/>
                  </a:ext>
                </a:extLst>
              </a:tr>
              <a:tr h="457200">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Fri 00:00</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78%</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0 of 14</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11</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8" name="caption"/>
          <p:cNvSpPr txBox="1"/>
          <p:nvPr/>
        </p:nvSpPr>
        <p:spPr>
          <a:xfrm>
            <a:off x="548640" y="4983480"/>
            <a:ext cx="6949440" cy="320040"/>
          </a:xfrm>
          <a:prstGeom prst="rect">
            <a:avLst/>
          </a:prstGeom>
          <a:noFill/>
          <a:ln/>
        </p:spPr>
        <p:txBody>
          <a:bodyPr wrap="square" lIns="0" tIns="0" rIns="0" bIns="0" rtlCol="0" anchor="ctr"/>
          <a:lstStyle/>
          <a:p>
            <a:pPr marL="0" indent="0">
              <a:buNone/>
            </a:pPr>
            <a:r>
              <a:rPr lang="en-US" sz="1100" i="1" dirty="0">
                <a:solidFill>
                  <a:srgbClr val="898781"/>
                </a:solidFill>
                <a:latin typeface="Calibri" pitchFamily="34" charset="0"/>
                <a:ea typeface="Calibri" pitchFamily="34" charset="-122"/>
                <a:cs typeface="Calibri" pitchFamily="34" charset="-120"/>
              </a:rPr>
              <a:t>Cutoffs at percentiles of capture time; 14 attack labels after deduplication</a:t>
            </a:r>
            <a:endParaRPr lang="en-US" sz="1100" dirty="0"/>
          </a:p>
        </p:txBody>
      </p:sp>
      <p:sp>
        <p:nvSpPr>
          <p:cNvPr id="9" name="stat of chronological test flows have at least one later training flow"/>
          <p:cNvSpPr txBox="1"/>
          <p:nvPr/>
        </p:nvSpPr>
        <p:spPr>
          <a:xfrm>
            <a:off x="8001000" y="1691640"/>
            <a:ext cx="3657600" cy="822960"/>
          </a:xfrm>
          <a:prstGeom prst="rect">
            <a:avLst/>
          </a:prstGeom>
          <a:noFill/>
          <a:ln/>
        </p:spPr>
        <p:txBody>
          <a:bodyPr wrap="square" lIns="0" tIns="0" rIns="0" bIns="0" rtlCol="0" anchor="ctr"/>
          <a:lstStyle/>
          <a:p>
            <a:pPr marL="0" indent="0">
              <a:buNone/>
            </a:pPr>
            <a:r>
              <a:rPr lang="en-US" sz="4400" b="1" dirty="0">
                <a:solidFill>
                  <a:srgbClr val="EB6834"/>
                </a:solidFill>
                <a:latin typeface="Calibri" pitchFamily="34" charset="0"/>
                <a:ea typeface="Calibri" pitchFamily="34" charset="-122"/>
                <a:cs typeface="Calibri" pitchFamily="34" charset="-120"/>
              </a:rPr>
              <a:t>86%</a:t>
            </a:r>
            <a:endParaRPr lang="en-US" sz="4400" dirty="0"/>
          </a:p>
        </p:txBody>
      </p:sp>
      <p:sp>
        <p:nvSpPr>
          <p:cNvPr id="10" name="stat label of chronological test flows have at least one later training flow"/>
          <p:cNvSpPr txBox="1"/>
          <p:nvPr/>
        </p:nvSpPr>
        <p:spPr>
          <a:xfrm>
            <a:off x="8001000" y="2514600"/>
            <a:ext cx="3657600"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of chronological test flows have at least one later training flow</a:t>
            </a:r>
            <a:endParaRPr lang="en-US" sz="1400" dirty="0"/>
          </a:p>
        </p:txBody>
      </p:sp>
      <p:sp>
        <p:nvSpPr>
          <p:cNvPr id="11" name="stat of attack training flows (DDoS, PortScan, Bot) lie inside the benign test window, Thu 16:23 to Fri 17:02"/>
          <p:cNvSpPr txBox="1"/>
          <p:nvPr/>
        </p:nvSpPr>
        <p:spPr>
          <a:xfrm>
            <a:off x="8001000" y="3520440"/>
            <a:ext cx="3657600" cy="822960"/>
          </a:xfrm>
          <a:prstGeom prst="rect">
            <a:avLst/>
          </a:prstGeom>
          <a:noFill/>
          <a:ln/>
        </p:spPr>
        <p:txBody>
          <a:bodyPr wrap="square" lIns="0" tIns="0" rIns="0" bIns="0" rtlCol="0" anchor="ctr"/>
          <a:lstStyle/>
          <a:p>
            <a:pPr marL="0" indent="0">
              <a:buNone/>
            </a:pPr>
            <a:r>
              <a:rPr lang="en-US" sz="4400" b="1" dirty="0">
                <a:solidFill>
                  <a:srgbClr val="EB6834"/>
                </a:solidFill>
                <a:latin typeface="Calibri" pitchFamily="34" charset="0"/>
                <a:ea typeface="Calibri" pitchFamily="34" charset="-122"/>
                <a:cs typeface="Calibri" pitchFamily="34" charset="-120"/>
              </a:rPr>
              <a:t>39%</a:t>
            </a:r>
            <a:endParaRPr lang="en-US" sz="4400" dirty="0"/>
          </a:p>
        </p:txBody>
      </p:sp>
      <p:sp>
        <p:nvSpPr>
          <p:cNvPr id="12" name="stat label of attack training flows (DDoS, PortScan, Bot) lie inside the benign test window, Thu 16:23 to Fri 17:02"/>
          <p:cNvSpPr txBox="1"/>
          <p:nvPr/>
        </p:nvSpPr>
        <p:spPr>
          <a:xfrm>
            <a:off x="8001000" y="4343400"/>
            <a:ext cx="3657600"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of attack training flows (DDoS, PortScan, Bot) lie inside the benign test window, Thu 16:23 to Fri 17:02</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05</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EXPERIMENTAL SETUP AND OUTPUT</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Output: the false positives are two attack sessions</a:t>
            </a:r>
            <a:endParaRPr lang="en-US" sz="3200" dirty="0"/>
          </a:p>
        </p:txBody>
      </p:sp>
      <p:pic>
        <p:nvPicPr>
          <p:cNvPr id="7" name="fig_fp" descr="Benign false-positive rate by endpoint set, and after excluding both sets"/>
          <p:cNvPicPr>
            <a:picLocks noChangeAspect="1"/>
          </p:cNvPicPr>
          <p:nvPr/>
        </p:nvPicPr>
        <p:blipFill>
          <a:blip r:embed="rId3"/>
          <a:stretch>
            <a:fillRect/>
          </a:stretch>
        </p:blipFill>
        <p:spPr>
          <a:xfrm>
            <a:off x="548640" y="1645920"/>
            <a:ext cx="5760720" cy="3587382"/>
          </a:xfrm>
          <a:prstGeom prst="rect">
            <a:avLst/>
          </a:prstGeom>
        </p:spPr>
      </p:pic>
      <p:sp>
        <p:nvSpPr>
          <p:cNvPr id="8" name="caption"/>
          <p:cNvSpPr txBox="1"/>
          <p:nvPr/>
        </p:nvSpPr>
        <p:spPr>
          <a:xfrm>
            <a:off x="548640" y="5897880"/>
            <a:ext cx="5760720" cy="320040"/>
          </a:xfrm>
          <a:prstGeom prst="rect">
            <a:avLst/>
          </a:prstGeom>
          <a:noFill/>
          <a:ln/>
        </p:spPr>
        <p:txBody>
          <a:bodyPr wrap="square" lIns="0" tIns="0" rIns="0" bIns="0" rtlCol="0" anchor="ctr"/>
          <a:lstStyle/>
          <a:p>
            <a:pPr marL="0" indent="0">
              <a:buNone/>
            </a:pPr>
            <a:r>
              <a:rPr lang="en-US" sz="1100" i="1" dirty="0">
                <a:solidFill>
                  <a:srgbClr val="898781"/>
                </a:solidFill>
                <a:latin typeface="Calibri" pitchFamily="34" charset="0"/>
                <a:ea typeface="Calibri" pitchFamily="34" charset="-122"/>
                <a:cs typeface="Calibri" pitchFamily="34" charset="-120"/>
              </a:rPr>
              <a:t>Seed 42. (b) shows Wilson 95% intervals.</a:t>
            </a:r>
            <a:endParaRPr lang="en-US" sz="1100" dirty="0"/>
          </a:p>
        </p:txBody>
      </p:sp>
      <p:sp>
        <p:nvSpPr>
          <p:cNvPr id="9" name="stat of chronological-split false positives lie on the two endpoint sets"/>
          <p:cNvSpPr txBox="1"/>
          <p:nvPr/>
        </p:nvSpPr>
        <p:spPr>
          <a:xfrm>
            <a:off x="6583680" y="4709160"/>
            <a:ext cx="5056632" cy="822960"/>
          </a:xfrm>
          <a:prstGeom prst="rect">
            <a:avLst/>
          </a:prstGeom>
          <a:noFill/>
          <a:ln/>
        </p:spPr>
        <p:txBody>
          <a:bodyPr wrap="square" lIns="0" tIns="0" rIns="0" bIns="0" rtlCol="0" anchor="ctr"/>
          <a:lstStyle/>
          <a:p>
            <a:pPr marL="0" indent="0">
              <a:buNone/>
            </a:pPr>
            <a:r>
              <a:rPr lang="en-US" sz="4400" b="1" dirty="0">
                <a:solidFill>
                  <a:srgbClr val="EB6834"/>
                </a:solidFill>
                <a:latin typeface="Calibri" pitchFamily="34" charset="0"/>
                <a:ea typeface="Calibri" pitchFamily="34" charset="-122"/>
                <a:cs typeface="Calibri" pitchFamily="34" charset="-120"/>
              </a:rPr>
              <a:t>98.8%</a:t>
            </a:r>
            <a:endParaRPr lang="en-US" sz="4400" dirty="0"/>
          </a:p>
        </p:txBody>
      </p:sp>
      <p:sp>
        <p:nvSpPr>
          <p:cNvPr id="10" name="stat label of chronological-split false positives lie on the two endpoint sets"/>
          <p:cNvSpPr txBox="1"/>
          <p:nvPr/>
        </p:nvSpPr>
        <p:spPr>
          <a:xfrm>
            <a:off x="6583680" y="5532120"/>
            <a:ext cx="5056632"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of chronological-split false positives lie on the two endpoint sets</a:t>
            </a:r>
            <a:endParaRPr lang="en-US" sz="1400" dirty="0"/>
          </a:p>
        </p:txBody>
      </p:sp>
      <p:sp>
        <p:nvSpPr>
          <p:cNvPr id="11" name="card Endpoint audit (seed 42)"/>
          <p:cNvSpPr/>
          <p:nvPr/>
        </p:nvSpPr>
        <p:spPr>
          <a:xfrm>
            <a:off x="6583680" y="1691640"/>
            <a:ext cx="5056632" cy="2880360"/>
          </a:xfrm>
          <a:prstGeom prst="roundRect">
            <a:avLst>
              <a:gd name="adj" fmla="val 2540"/>
            </a:avLst>
          </a:prstGeom>
          <a:solidFill>
            <a:srgbClr val="F3F5F9"/>
          </a:solidFill>
          <a:ln w="12700">
            <a:solidFill>
              <a:srgbClr val="F3F5F9"/>
            </a:solidFill>
            <a:prstDash val="solid"/>
          </a:ln>
        </p:spPr>
        <p:txBody>
          <a:bodyPr/>
          <a:lstStyle/>
          <a:p>
            <a:endParaRPr lang="en-IN"/>
          </a:p>
        </p:txBody>
      </p:sp>
      <p:sp>
        <p:nvSpPr>
          <p:cNvPr id="12" name="card head Endpoint audit (seed 42)"/>
          <p:cNvSpPr txBox="1"/>
          <p:nvPr/>
        </p:nvSpPr>
        <p:spPr>
          <a:xfrm>
            <a:off x="6766560" y="1828800"/>
            <a:ext cx="4690872"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Endpoint audit (seed 42)</a:t>
            </a:r>
            <a:endParaRPr lang="en-US" sz="1800" dirty="0"/>
          </a:p>
        </p:txBody>
      </p:sp>
      <p:sp>
        <p:nvSpPr>
          <p:cNvPr id="13" name="card body Endpoint audit (seed 42)"/>
          <p:cNvSpPr txBox="1"/>
          <p:nvPr/>
        </p:nvSpPr>
        <p:spPr>
          <a:xfrm>
            <a:off x="6766560" y="2286000"/>
            <a:ext cx="4690872" cy="214884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 DDoS victim ↔ attacker: 9,685 of 10,612 false positives; reverse direction, inside 15:56–16:16</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Bot C&amp;C channel (port 8080): 802 false positives, after the last Bot label at 12:59</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Random split: 4 false positives among 7,620 benign flows on the same pair</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Both sets removed: FPR 0.037% vs 0.037%; F1 gap 0.092 → 0.020, recall only</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05</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EXPERIMENTAL SETUP AND OUTPUT</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Output: duplicates and label conflicts</a:t>
            </a:r>
            <a:endParaRPr lang="en-US" sz="3200" dirty="0"/>
          </a:p>
        </p:txBody>
      </p:sp>
      <p:pic>
        <p:nvPicPr>
          <p:cNvPr id="7" name="fig_duplication" descr="Share of exact duplicates per label"/>
          <p:cNvPicPr>
            <a:picLocks noChangeAspect="1"/>
          </p:cNvPicPr>
          <p:nvPr/>
        </p:nvPicPr>
        <p:blipFill>
          <a:blip r:embed="rId3"/>
          <a:stretch>
            <a:fillRect/>
          </a:stretch>
        </p:blipFill>
        <p:spPr>
          <a:xfrm>
            <a:off x="548640" y="1600200"/>
            <a:ext cx="11094415" cy="3180364"/>
          </a:xfrm>
          <a:prstGeom prst="rect">
            <a:avLst/>
          </a:prstGeom>
        </p:spPr>
      </p:pic>
      <p:sp>
        <p:nvSpPr>
          <p:cNvPr id="8" name="stat feature vectors with conflicting labels (82,704 rows), all involving BENIGN"/>
          <p:cNvSpPr txBox="1"/>
          <p:nvPr/>
        </p:nvSpPr>
        <p:spPr>
          <a:xfrm>
            <a:off x="548640" y="4983480"/>
            <a:ext cx="3291840" cy="822960"/>
          </a:xfrm>
          <a:prstGeom prst="rect">
            <a:avLst/>
          </a:prstGeom>
          <a:noFill/>
          <a:ln/>
        </p:spPr>
        <p:txBody>
          <a:bodyPr wrap="square" lIns="0" tIns="0" rIns="0" bIns="0" rtlCol="0" anchor="ctr"/>
          <a:lstStyle/>
          <a:p>
            <a:pPr marL="0" indent="0">
              <a:buNone/>
            </a:pPr>
            <a:r>
              <a:rPr lang="en-US" sz="4400" b="1" dirty="0">
                <a:solidFill>
                  <a:srgbClr val="2A78D6"/>
                </a:solidFill>
                <a:latin typeface="Calibri" pitchFamily="34" charset="0"/>
                <a:ea typeface="Calibri" pitchFamily="34" charset="-122"/>
                <a:cs typeface="Calibri" pitchFamily="34" charset="-120"/>
              </a:rPr>
              <a:t>309</a:t>
            </a:r>
            <a:endParaRPr lang="en-US" sz="4400" dirty="0"/>
          </a:p>
        </p:txBody>
      </p:sp>
      <p:sp>
        <p:nvSpPr>
          <p:cNvPr id="9" name="stat label feature vectors with conflicting labels (82,704 rows), all involving BENIGN"/>
          <p:cNvSpPr txBox="1"/>
          <p:nvPr/>
        </p:nvSpPr>
        <p:spPr>
          <a:xfrm>
            <a:off x="548640" y="5806440"/>
            <a:ext cx="3291840"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feature vectors with conflicting labels (82,704 rows), all involving BENIGN</a:t>
            </a:r>
            <a:endParaRPr lang="en-US" sz="1400" dirty="0"/>
          </a:p>
        </p:txBody>
      </p:sp>
      <p:sp>
        <p:nvSpPr>
          <p:cNvPr id="10" name="stat of PortScan rows are exact duplicates (1,956 unique vectors)"/>
          <p:cNvSpPr txBox="1"/>
          <p:nvPr/>
        </p:nvSpPr>
        <p:spPr>
          <a:xfrm>
            <a:off x="4389120" y="4983480"/>
            <a:ext cx="3291840" cy="822960"/>
          </a:xfrm>
          <a:prstGeom prst="rect">
            <a:avLst/>
          </a:prstGeom>
          <a:noFill/>
          <a:ln/>
        </p:spPr>
        <p:txBody>
          <a:bodyPr wrap="square" lIns="0" tIns="0" rIns="0" bIns="0" rtlCol="0" anchor="ctr"/>
          <a:lstStyle/>
          <a:p>
            <a:pPr marL="0" indent="0">
              <a:buNone/>
            </a:pPr>
            <a:r>
              <a:rPr lang="en-US" sz="4400" b="1" dirty="0">
                <a:solidFill>
                  <a:srgbClr val="EB6834"/>
                </a:solidFill>
                <a:latin typeface="Calibri" pitchFamily="34" charset="0"/>
                <a:ea typeface="Calibri" pitchFamily="34" charset="-122"/>
                <a:cs typeface="Calibri" pitchFamily="34" charset="-120"/>
              </a:rPr>
              <a:t>98.8%</a:t>
            </a:r>
            <a:endParaRPr lang="en-US" sz="4400" dirty="0"/>
          </a:p>
        </p:txBody>
      </p:sp>
      <p:sp>
        <p:nvSpPr>
          <p:cNvPr id="11" name="stat label of PortScan rows are exact duplicates (1,956 unique vectors)"/>
          <p:cNvSpPr txBox="1"/>
          <p:nvPr/>
        </p:nvSpPr>
        <p:spPr>
          <a:xfrm>
            <a:off x="4389120" y="5806440"/>
            <a:ext cx="3291840"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of PortScan rows are exact duplicates (1,956 unique vectors)</a:t>
            </a:r>
            <a:endParaRPr lang="en-US" sz="1400" dirty="0"/>
          </a:p>
        </p:txBody>
      </p:sp>
      <p:sp>
        <p:nvSpPr>
          <p:cNvPr id="12" name="stat change in malicious F1 across four resolution policies"/>
          <p:cNvSpPr txBox="1"/>
          <p:nvPr/>
        </p:nvSpPr>
        <p:spPr>
          <a:xfrm>
            <a:off x="8229600" y="4983480"/>
            <a:ext cx="3291840" cy="822960"/>
          </a:xfrm>
          <a:prstGeom prst="rect">
            <a:avLst/>
          </a:prstGeom>
          <a:noFill/>
          <a:ln/>
        </p:spPr>
        <p:txBody>
          <a:bodyPr wrap="square" lIns="0" tIns="0" rIns="0" bIns="0" rtlCol="0" anchor="ctr"/>
          <a:lstStyle/>
          <a:p>
            <a:pPr marL="0" indent="0">
              <a:buNone/>
            </a:pPr>
            <a:r>
              <a:rPr lang="en-US" sz="4400" b="1" dirty="0">
                <a:solidFill>
                  <a:srgbClr val="2A78D6"/>
                </a:solidFill>
                <a:latin typeface="Calibri" pitchFamily="34" charset="0"/>
                <a:ea typeface="Calibri" pitchFamily="34" charset="-122"/>
                <a:cs typeface="Calibri" pitchFamily="34" charset="-120"/>
              </a:rPr>
              <a:t>&lt; 0.004</a:t>
            </a:r>
            <a:endParaRPr lang="en-US" sz="4400" dirty="0"/>
          </a:p>
        </p:txBody>
      </p:sp>
      <p:sp>
        <p:nvSpPr>
          <p:cNvPr id="13" name="stat label change in malicious F1 across four resolution policies"/>
          <p:cNvSpPr txBox="1"/>
          <p:nvPr/>
        </p:nvSpPr>
        <p:spPr>
          <a:xfrm>
            <a:off x="8229600" y="5806440"/>
            <a:ext cx="3291840"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change in malicious F1 across four resolution policies</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05</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EXPERIMENTAL SETUP AND OUTPUT</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Output: attribution must be scored end to end</a:t>
            </a:r>
            <a:endParaRPr lang="en-US" sz="3200" dirty="0"/>
          </a:p>
        </p:txBody>
      </p:sp>
      <p:pic>
        <p:nvPicPr>
          <p:cNvPr id="7" name="fig_hierarchy" descr="Family F1 on true attacks only vs end to end"/>
          <p:cNvPicPr>
            <a:picLocks noChangeAspect="1"/>
          </p:cNvPicPr>
          <p:nvPr/>
        </p:nvPicPr>
        <p:blipFill>
          <a:blip r:embed="rId3"/>
          <a:stretch>
            <a:fillRect/>
          </a:stretch>
        </p:blipFill>
        <p:spPr>
          <a:xfrm>
            <a:off x="548640" y="1645920"/>
            <a:ext cx="6035040" cy="4043659"/>
          </a:xfrm>
          <a:prstGeom prst="rect">
            <a:avLst/>
          </a:prstGeom>
        </p:spPr>
      </p:pic>
      <p:sp>
        <p:nvSpPr>
          <p:cNvPr id="8" name="card Key numbers (5 seeds)"/>
          <p:cNvSpPr/>
          <p:nvPr/>
        </p:nvSpPr>
        <p:spPr>
          <a:xfrm>
            <a:off x="6949440" y="1691640"/>
            <a:ext cx="4690872" cy="4389120"/>
          </a:xfrm>
          <a:prstGeom prst="roundRect">
            <a:avLst>
              <a:gd name="adj" fmla="val 1667"/>
            </a:avLst>
          </a:prstGeom>
          <a:solidFill>
            <a:srgbClr val="F3F5F9"/>
          </a:solidFill>
          <a:ln w="12700">
            <a:solidFill>
              <a:srgbClr val="F3F5F9"/>
            </a:solidFill>
            <a:prstDash val="solid"/>
          </a:ln>
        </p:spPr>
        <p:txBody>
          <a:bodyPr/>
          <a:lstStyle/>
          <a:p>
            <a:endParaRPr lang="en-IN"/>
          </a:p>
        </p:txBody>
      </p:sp>
      <p:sp>
        <p:nvSpPr>
          <p:cNvPr id="9" name="card head Key numbers (5 seeds)"/>
          <p:cNvSpPr txBox="1"/>
          <p:nvPr/>
        </p:nvSpPr>
        <p:spPr>
          <a:xfrm>
            <a:off x="7132320" y="1828800"/>
            <a:ext cx="4325112"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Key numbers (5 seeds)</a:t>
            </a:r>
            <a:endParaRPr lang="en-US" sz="1800" dirty="0"/>
          </a:p>
        </p:txBody>
      </p:sp>
      <p:sp>
        <p:nvSpPr>
          <p:cNvPr id="10" name="card body Key numbers (5 seeds)"/>
          <p:cNvSpPr txBox="1"/>
          <p:nvPr/>
        </p:nvSpPr>
        <p:spPr>
          <a:xfrm>
            <a:off x="7132320" y="2286000"/>
            <a:ext cx="4325112" cy="3657600"/>
          </a:xfrm>
          <a:prstGeom prst="rect">
            <a:avLst/>
          </a:prstGeom>
          <a:noFill/>
          <a:ln/>
        </p:spPr>
        <p:txBody>
          <a:bodyPr wrap="square" lIns="0" tIns="0" rIns="0" bIns="0" rtlCol="0" anchor="t"/>
          <a:lstStyle/>
          <a:p>
            <a:pPr marL="0" indent="0">
              <a:buNone/>
            </a:pPr>
            <a:r>
              <a:rPr lang="en-US" sz="1600" dirty="0">
                <a:solidFill>
                  <a:schemeClr val="tx1"/>
                </a:solidFill>
                <a:latin typeface="Calibri" pitchFamily="34" charset="0"/>
                <a:ea typeface="Calibri" pitchFamily="34" charset="-122"/>
                <a:cs typeface="Calibri" pitchFamily="34" charset="-120"/>
              </a:rPr>
              <a:t>• Bot: 0.996 → 0.729 (random split)</a:t>
            </a:r>
            <a:endParaRPr lang="en-US" sz="1600" dirty="0"/>
          </a:p>
          <a:p>
            <a:pPr marL="0" indent="0">
              <a:buNone/>
            </a:pPr>
            <a:r>
              <a:rPr lang="en-US" sz="1600" dirty="0">
                <a:solidFill>
                  <a:schemeClr val="tx1"/>
                </a:solidFill>
                <a:latin typeface="Calibri" pitchFamily="34" charset="0"/>
                <a:ea typeface="Calibri" pitchFamily="34" charset="-122"/>
                <a:cs typeface="Calibri" pitchFamily="34" charset="-120"/>
              </a:rPr>
              <a:t>• Bot: 1.000 → 0.411 (chronological), precision 0.259</a:t>
            </a:r>
            <a:endParaRPr lang="en-US" sz="1600" dirty="0"/>
          </a:p>
          <a:p>
            <a:pPr marL="0" indent="0">
              <a:buNone/>
            </a:pPr>
            <a:r>
              <a:rPr lang="en-US" sz="1600" dirty="0">
                <a:solidFill>
                  <a:schemeClr val="tx1"/>
                </a:solidFill>
                <a:latin typeface="Calibri" pitchFamily="34" charset="0"/>
                <a:ea typeface="Calibri" pitchFamily="34" charset="-122"/>
                <a:cs typeface="Calibri" pitchFamily="34" charset="-120"/>
              </a:rPr>
              <a:t>• DoS/DDoS: 0.990 → 0.898 (chronological)</a:t>
            </a:r>
            <a:endParaRPr lang="en-US" sz="1600" dirty="0"/>
          </a:p>
          <a:p>
            <a:pPr marL="0" indent="0">
              <a:buNone/>
            </a:pPr>
            <a:r>
              <a:rPr lang="en-US" sz="1600" dirty="0">
                <a:solidFill>
                  <a:schemeClr val="tx1"/>
                </a:solidFill>
                <a:latin typeface="Calibri" pitchFamily="34" charset="0"/>
                <a:ea typeface="Calibri" pitchFamily="34" charset="-122"/>
                <a:cs typeface="Calibri" pitchFamily="34" charset="-120"/>
              </a:rPr>
              <a:t>• These end-to-end losses are the benign-labelled flows on the DDoS pair and the Bot C&amp;C channel</a:t>
            </a:r>
            <a:endParaRPr lang="en-US" sz="1600" dirty="0"/>
          </a:p>
          <a:p>
            <a:pPr marL="0" indent="0">
              <a:buNone/>
            </a:pPr>
            <a:r>
              <a:rPr lang="en-US" sz="1600" dirty="0">
                <a:solidFill>
                  <a:schemeClr val="tx1"/>
                </a:solidFill>
                <a:latin typeface="Calibri" pitchFamily="34" charset="0"/>
                <a:ea typeface="Calibri" pitchFamily="34" charset="-122"/>
                <a:cs typeface="Calibri" pitchFamily="34" charset="-120"/>
              </a:rPr>
              <a:t>• Web brute force / XSS fine F1: 0.723 / 0.459 even with a random split</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05</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EXPERIMENTAL SETUP AND OUTPUT</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Output: zero-shot transfer collapses on matched families</a:t>
            </a:r>
            <a:endParaRPr lang="en-US" sz="3200" dirty="0"/>
          </a:p>
        </p:txBody>
      </p:sp>
      <p:graphicFrame>
        <p:nvGraphicFramePr>
          <p:cNvPr id="7" name="transfer chart"/>
          <p:cNvGraphicFramePr/>
          <p:nvPr/>
        </p:nvGraphicFramePr>
        <p:xfrm>
          <a:off x="548640" y="1600200"/>
          <a:ext cx="6675120" cy="4663440"/>
        </p:xfrm>
        <a:graphic>
          <a:graphicData uri="http://schemas.openxmlformats.org/drawingml/2006/chart">
            <c:chart xmlns:c="http://schemas.openxmlformats.org/drawingml/2006/chart" xmlns:r="http://schemas.openxmlformats.org/officeDocument/2006/relationships" r:id="rId3"/>
          </a:graphicData>
        </a:graphic>
      </p:graphicFrame>
      <p:pic>
        <p:nvPicPr>
          <p:cNvPr id="8" name="fig_confusion" descr="End-to-end confusion matrices, seed 42"/>
          <p:cNvPicPr>
            <a:picLocks noChangeAspect="1"/>
          </p:cNvPicPr>
          <p:nvPr/>
        </p:nvPicPr>
        <p:blipFill>
          <a:blip r:embed="rId4"/>
          <a:stretch>
            <a:fillRect/>
          </a:stretch>
        </p:blipFill>
        <p:spPr>
          <a:xfrm>
            <a:off x="7406640" y="1828800"/>
            <a:ext cx="4251960" cy="2113095"/>
          </a:xfrm>
          <a:prstGeom prst="rect">
            <a:avLst/>
          </a:prstGeom>
        </p:spPr>
      </p:pic>
      <p:sp>
        <p:nvSpPr>
          <p:cNvPr id="9" name="caption"/>
          <p:cNvSpPr txBox="1"/>
          <p:nvPr/>
        </p:nvSpPr>
        <p:spPr>
          <a:xfrm>
            <a:off x="7406640" y="5120640"/>
            <a:ext cx="4251960" cy="320040"/>
          </a:xfrm>
          <a:prstGeom prst="rect">
            <a:avLst/>
          </a:prstGeom>
          <a:noFill/>
          <a:ln/>
        </p:spPr>
        <p:txBody>
          <a:bodyPr wrap="square" lIns="0" tIns="0" rIns="0" bIns="0" rtlCol="0" anchor="ctr"/>
          <a:lstStyle/>
          <a:p>
            <a:pPr marL="0" indent="0">
              <a:buNone/>
            </a:pPr>
            <a:r>
              <a:rPr lang="en-US" sz="1100" i="1" dirty="0">
                <a:solidFill>
                  <a:srgbClr val="898781"/>
                </a:solidFill>
                <a:latin typeface="Calibri" pitchFamily="34" charset="0"/>
                <a:ea typeface="Calibri" pitchFamily="34" charset="-122"/>
                <a:cs typeface="Calibri" pitchFamily="34" charset="-120"/>
              </a:rPr>
              <a:t>Row-normalised confusion, seed 42: 145,169 of 145,254 DoS flows labelled benign</a:t>
            </a:r>
            <a:endParaRPr lang="en-US" sz="11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05</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EXPERIMENTAL SETUP AND OUTPUT</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Output: units agree; DoS-Hulk traffic differs by year</a:t>
            </a:r>
            <a:endParaRPr lang="en-US" sz="3200" dirty="0"/>
          </a:p>
        </p:txBody>
      </p:sp>
      <p:pic>
        <p:nvPicPr>
          <p:cNvPr id="7" name="fig_shift" descr="KS statistic between years"/>
          <p:cNvPicPr>
            <a:picLocks noChangeAspect="1"/>
          </p:cNvPicPr>
          <p:nvPr/>
        </p:nvPicPr>
        <p:blipFill>
          <a:blip r:embed="rId3"/>
          <a:stretch>
            <a:fillRect/>
          </a:stretch>
        </p:blipFill>
        <p:spPr>
          <a:xfrm>
            <a:off x="548640" y="1600200"/>
            <a:ext cx="5669280" cy="3915705"/>
          </a:xfrm>
          <a:prstGeom prst="rect">
            <a:avLst/>
          </a:prstGeom>
        </p:spPr>
      </p:pic>
      <p:sp>
        <p:nvSpPr>
          <p:cNvPr id="8" name="card Diagnostics"/>
          <p:cNvSpPr/>
          <p:nvPr/>
        </p:nvSpPr>
        <p:spPr>
          <a:xfrm>
            <a:off x="6537960" y="1691640"/>
            <a:ext cx="5102352" cy="4389120"/>
          </a:xfrm>
          <a:prstGeom prst="roundRect">
            <a:avLst>
              <a:gd name="adj" fmla="val 1667"/>
            </a:avLst>
          </a:prstGeom>
          <a:solidFill>
            <a:srgbClr val="F3F5F9"/>
          </a:solidFill>
          <a:ln w="12700">
            <a:solidFill>
              <a:srgbClr val="F3F5F9"/>
            </a:solidFill>
            <a:prstDash val="solid"/>
          </a:ln>
        </p:spPr>
        <p:txBody>
          <a:bodyPr/>
          <a:lstStyle/>
          <a:p>
            <a:endParaRPr lang="en-IN"/>
          </a:p>
        </p:txBody>
      </p:sp>
      <p:sp>
        <p:nvSpPr>
          <p:cNvPr id="9" name="card head Diagnostics"/>
          <p:cNvSpPr txBox="1"/>
          <p:nvPr/>
        </p:nvSpPr>
        <p:spPr>
          <a:xfrm>
            <a:off x="6720840" y="1828800"/>
            <a:ext cx="4736592"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Diagnostics</a:t>
            </a:r>
            <a:endParaRPr lang="en-US" sz="1800" dirty="0"/>
          </a:p>
        </p:txBody>
      </p:sp>
      <p:sp>
        <p:nvSpPr>
          <p:cNvPr id="10" name="card body Diagnostics"/>
          <p:cNvSpPr txBox="1"/>
          <p:nvPr/>
        </p:nvSpPr>
        <p:spPr>
          <a:xfrm>
            <a:off x="6720840" y="2286000"/>
            <a:ext cx="4736592" cy="3657600"/>
          </a:xfrm>
          <a:prstGeom prst="rect">
            <a:avLst/>
          </a:prstGeom>
          <a:noFill/>
          <a:ln/>
        </p:spPr>
        <p:txBody>
          <a:bodyPr wrap="square" lIns="0" tIns="0" rIns="0" bIns="0" rtlCol="0" anchor="t"/>
          <a:lstStyle/>
          <a:p>
            <a:pPr marL="0" indent="0">
              <a:buNone/>
            </a:pPr>
            <a:r>
              <a:rPr lang="en-US" sz="1500" dirty="0">
                <a:solidFill>
                  <a:schemeClr val="tx1"/>
                </a:solidFill>
                <a:latin typeface="Calibri" pitchFamily="34" charset="0"/>
                <a:ea typeface="Calibri" pitchFamily="34" charset="-122"/>
                <a:cs typeface="Calibri" pitchFamily="34" charset="-120"/>
              </a:rPr>
              <a:t>• Unit identities: 1.000×10⁶, 1.000×10⁶, 1.000 in both years</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Adversarial AUC 2017 vs 2018: 0.9997 (benign only 0.9997)</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DoS Hulk: 50/75 features with KS &gt; 0.5; Benign: 0/75 (max 0.445)</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Hulk flows with no backward payload: 9.5% (2017) → 82.3% (2018)</a:t>
            </a:r>
            <a:endParaRPr lang="en-US" sz="1500" dirty="0"/>
          </a:p>
          <a:p>
            <a:pPr marL="0" indent="0">
              <a:buNone/>
            </a:pPr>
            <a:r>
              <a:rPr lang="en-US" sz="1500" dirty="0">
                <a:solidFill>
                  <a:schemeClr val="tx1"/>
                </a:solidFill>
                <a:latin typeface="Calibri" pitchFamily="34" charset="0"/>
                <a:ea typeface="Calibri" pitchFamily="34" charset="-122"/>
                <a:cs typeface="Calibri" pitchFamily="34" charset="-120"/>
              </a:rPr>
              <a:t>• Median Hulk duration: 86.4 s → 0.051 s</a:t>
            </a:r>
            <a:endParaRPr lang="en-US" sz="15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05</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EXPERIMENTAL SETUP AND OUTPUT</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Output: label-free normalisation does not recover the gap</a:t>
            </a:r>
            <a:endParaRPr lang="en-US" sz="3200" dirty="0"/>
          </a:p>
        </p:txBody>
      </p:sp>
      <p:graphicFrame>
        <p:nvGraphicFramePr>
          <p:cNvPr id="7" name="mitigation chart"/>
          <p:cNvGraphicFramePr/>
          <p:nvPr/>
        </p:nvGraphicFramePr>
        <p:xfrm>
          <a:off x="548640" y="1600200"/>
          <a:ext cx="6949440" cy="4663440"/>
        </p:xfrm>
        <a:graphic>
          <a:graphicData uri="http://schemas.openxmlformats.org/drawingml/2006/chart">
            <c:chart xmlns:c="http://schemas.openxmlformats.org/drawingml/2006/chart" xmlns:r="http://schemas.openxmlformats.org/officeDocument/2006/relationships" r:id="rId3"/>
          </a:graphicData>
        </a:graphic>
      </p:graphicFrame>
      <p:sp>
        <p:nvSpPr>
          <p:cNvPr id="8" name="stat gap recovered by any label-free transformation (random forest, 3 seeds)"/>
          <p:cNvSpPr txBox="1"/>
          <p:nvPr/>
        </p:nvSpPr>
        <p:spPr>
          <a:xfrm>
            <a:off x="7863840" y="1920240"/>
            <a:ext cx="3749040" cy="822960"/>
          </a:xfrm>
          <a:prstGeom prst="rect">
            <a:avLst/>
          </a:prstGeom>
          <a:noFill/>
          <a:ln/>
        </p:spPr>
        <p:txBody>
          <a:bodyPr wrap="square" lIns="0" tIns="0" rIns="0" bIns="0" rtlCol="0" anchor="ctr"/>
          <a:lstStyle/>
          <a:p>
            <a:pPr marL="0" indent="0">
              <a:buNone/>
            </a:pPr>
            <a:r>
              <a:rPr lang="en-US" sz="4400" b="1" dirty="0">
                <a:solidFill>
                  <a:srgbClr val="2A78D6"/>
                </a:solidFill>
                <a:latin typeface="Calibri" pitchFamily="34" charset="0"/>
                <a:ea typeface="Calibri" pitchFamily="34" charset="-122"/>
                <a:cs typeface="Calibri" pitchFamily="34" charset="-120"/>
              </a:rPr>
              <a:t>≤ 0.5%</a:t>
            </a:r>
            <a:endParaRPr lang="en-US" sz="4400" dirty="0"/>
          </a:p>
        </p:txBody>
      </p:sp>
      <p:sp>
        <p:nvSpPr>
          <p:cNvPr id="9" name="stat label gap recovered by any label-free transformation (random forest, 3 seeds)"/>
          <p:cNvSpPr txBox="1"/>
          <p:nvPr/>
        </p:nvSpPr>
        <p:spPr>
          <a:xfrm>
            <a:off x="7863840" y="2743200"/>
            <a:ext cx="3749040"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gap recovered by any label-free transformation (random forest, 3 seeds)</a:t>
            </a:r>
            <a:endParaRPr lang="en-US" sz="1400" dirty="0"/>
          </a:p>
        </p:txBody>
      </p:sp>
      <p:sp>
        <p:nvSpPr>
          <p:cNvPr id="10" name="stat DoS recall when trained and tested on 2018: the features suffice within a year"/>
          <p:cNvSpPr txBox="1"/>
          <p:nvPr/>
        </p:nvSpPr>
        <p:spPr>
          <a:xfrm>
            <a:off x="7863840" y="3749040"/>
            <a:ext cx="3749040" cy="822960"/>
          </a:xfrm>
          <a:prstGeom prst="rect">
            <a:avLst/>
          </a:prstGeom>
          <a:noFill/>
          <a:ln/>
        </p:spPr>
        <p:txBody>
          <a:bodyPr wrap="square" lIns="0" tIns="0" rIns="0" bIns="0" rtlCol="0" anchor="ctr"/>
          <a:lstStyle/>
          <a:p>
            <a:pPr marL="0" indent="0">
              <a:buNone/>
            </a:pPr>
            <a:r>
              <a:rPr lang="en-US" sz="4400" b="1" dirty="0">
                <a:solidFill>
                  <a:srgbClr val="1BAF7A"/>
                </a:solidFill>
                <a:latin typeface="Calibri" pitchFamily="34" charset="0"/>
                <a:ea typeface="Calibri" pitchFamily="34" charset="-122"/>
                <a:cs typeface="Calibri" pitchFamily="34" charset="-120"/>
              </a:rPr>
              <a:t>1.000</a:t>
            </a:r>
            <a:endParaRPr lang="en-US" sz="4400" dirty="0"/>
          </a:p>
        </p:txBody>
      </p:sp>
      <p:sp>
        <p:nvSpPr>
          <p:cNvPr id="11" name="stat label DoS recall when trained and tested on 2018: the features suffice within a year"/>
          <p:cNvSpPr txBox="1"/>
          <p:nvPr/>
        </p:nvSpPr>
        <p:spPr>
          <a:xfrm>
            <a:off x="7863840" y="4572000"/>
            <a:ext cx="3749040"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DoS recall when trained and tested on 2018: the features suffice within a year</a:t>
            </a:r>
            <a:endParaRPr lang="en-US" sz="14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06</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RESULT ANALYSIS</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Leakage is small; the chronological gap is mostly labels</a:t>
            </a:r>
            <a:endParaRPr lang="en-US" sz="3200" dirty="0"/>
          </a:p>
        </p:txBody>
      </p:sp>
      <p:sp>
        <p:nvSpPr>
          <p:cNvPr id="7" name="stat malicious-F1 change from duplicates, Flow-ID groups and 1–15 min blocks (within noise)"/>
          <p:cNvSpPr txBox="1"/>
          <p:nvPr/>
        </p:nvSpPr>
        <p:spPr>
          <a:xfrm>
            <a:off x="548640" y="1828800"/>
            <a:ext cx="3474720" cy="822960"/>
          </a:xfrm>
          <a:prstGeom prst="rect">
            <a:avLst/>
          </a:prstGeom>
          <a:noFill/>
          <a:ln/>
        </p:spPr>
        <p:txBody>
          <a:bodyPr wrap="square" lIns="0" tIns="0" rIns="0" bIns="0" rtlCol="0" anchor="ctr"/>
          <a:lstStyle/>
          <a:p>
            <a:pPr marL="0" indent="0">
              <a:buNone/>
            </a:pPr>
            <a:r>
              <a:rPr lang="en-US" sz="4400" b="1" dirty="0">
                <a:solidFill>
                  <a:srgbClr val="2A78D6"/>
                </a:solidFill>
                <a:latin typeface="Calibri" pitchFamily="34" charset="0"/>
                <a:ea typeface="Calibri" pitchFamily="34" charset="-122"/>
                <a:cs typeface="Calibri" pitchFamily="34" charset="-120"/>
              </a:rPr>
              <a:t>≤ 0.004</a:t>
            </a:r>
            <a:endParaRPr lang="en-US" sz="4400" dirty="0"/>
          </a:p>
        </p:txBody>
      </p:sp>
      <p:sp>
        <p:nvSpPr>
          <p:cNvPr id="8" name="stat label malicious-F1 change from duplicates, Flow-ID groups and 1–15 min blocks (within noise)"/>
          <p:cNvSpPr txBox="1"/>
          <p:nvPr/>
        </p:nvSpPr>
        <p:spPr>
          <a:xfrm>
            <a:off x="548640" y="2651760"/>
            <a:ext cx="3474720"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malicious-F1 change from duplicates, Flow-ID groups and 1–15 min blocks (within noise)</a:t>
            </a:r>
            <a:endParaRPr lang="en-US" sz="1400" dirty="0"/>
          </a:p>
        </p:txBody>
      </p:sp>
      <p:sp>
        <p:nvSpPr>
          <p:cNvPr id="9" name="stat of chronological-split false positives lie on two attack endpoint sets"/>
          <p:cNvSpPr txBox="1"/>
          <p:nvPr/>
        </p:nvSpPr>
        <p:spPr>
          <a:xfrm>
            <a:off x="4389120" y="1828800"/>
            <a:ext cx="3474720" cy="822960"/>
          </a:xfrm>
          <a:prstGeom prst="rect">
            <a:avLst/>
          </a:prstGeom>
          <a:noFill/>
          <a:ln/>
        </p:spPr>
        <p:txBody>
          <a:bodyPr wrap="square" lIns="0" tIns="0" rIns="0" bIns="0" rtlCol="0" anchor="ctr"/>
          <a:lstStyle/>
          <a:p>
            <a:pPr marL="0" indent="0">
              <a:buNone/>
            </a:pPr>
            <a:r>
              <a:rPr lang="en-US" sz="4400" b="1" dirty="0">
                <a:solidFill>
                  <a:srgbClr val="EB6834"/>
                </a:solidFill>
                <a:latin typeface="Calibri" pitchFamily="34" charset="0"/>
                <a:ea typeface="Calibri" pitchFamily="34" charset="-122"/>
                <a:cs typeface="Calibri" pitchFamily="34" charset="-120"/>
              </a:rPr>
              <a:t>98.8%</a:t>
            </a:r>
            <a:endParaRPr lang="en-US" sz="4400" dirty="0"/>
          </a:p>
        </p:txBody>
      </p:sp>
      <p:sp>
        <p:nvSpPr>
          <p:cNvPr id="10" name="stat label of chronological-split false positives lie on two attack endpoint sets"/>
          <p:cNvSpPr txBox="1"/>
          <p:nvPr/>
        </p:nvSpPr>
        <p:spPr>
          <a:xfrm>
            <a:off x="4389120" y="2651760"/>
            <a:ext cx="3474720"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of chronological-split false positives lie on two attack endpoint sets</a:t>
            </a:r>
            <a:endParaRPr lang="en-US" sz="1400" dirty="0"/>
          </a:p>
        </p:txBody>
      </p:sp>
      <p:sp>
        <p:nvSpPr>
          <p:cNvPr id="11" name="stat malicious-F1 gap to the random split once both sets are removed (seed 42)"/>
          <p:cNvSpPr txBox="1"/>
          <p:nvPr/>
        </p:nvSpPr>
        <p:spPr>
          <a:xfrm>
            <a:off x="8229600" y="1828800"/>
            <a:ext cx="3474720" cy="822960"/>
          </a:xfrm>
          <a:prstGeom prst="rect">
            <a:avLst/>
          </a:prstGeom>
          <a:noFill/>
          <a:ln/>
        </p:spPr>
        <p:txBody>
          <a:bodyPr wrap="square" lIns="0" tIns="0" rIns="0" bIns="0" rtlCol="0" anchor="ctr"/>
          <a:lstStyle/>
          <a:p>
            <a:pPr marL="0" indent="0">
              <a:buNone/>
            </a:pPr>
            <a:r>
              <a:rPr lang="en-US" sz="4400" b="1" dirty="0">
                <a:solidFill>
                  <a:srgbClr val="EB6834"/>
                </a:solidFill>
                <a:latin typeface="Calibri" pitchFamily="34" charset="0"/>
                <a:ea typeface="Calibri" pitchFamily="34" charset="-122"/>
                <a:cs typeface="Calibri" pitchFamily="34" charset="-120"/>
              </a:rPr>
              <a:t>0.092 → 0.020</a:t>
            </a:r>
            <a:endParaRPr lang="en-US" sz="4400" dirty="0"/>
          </a:p>
        </p:txBody>
      </p:sp>
      <p:sp>
        <p:nvSpPr>
          <p:cNvPr id="12" name="stat label malicious-F1 gap to the random split once both sets are removed (seed 42)"/>
          <p:cNvSpPr txBox="1"/>
          <p:nvPr/>
        </p:nvSpPr>
        <p:spPr>
          <a:xfrm>
            <a:off x="8229600" y="2651760"/>
            <a:ext cx="3474720" cy="685800"/>
          </a:xfrm>
          <a:prstGeom prst="rect">
            <a:avLst/>
          </a:prstGeom>
          <a:noFill/>
          <a:ln/>
        </p:spPr>
        <p:txBody>
          <a:bodyPr wrap="square" lIns="0" tIns="0" rIns="0" bIns="0" rtlCol="0" anchor="t"/>
          <a:lstStyle/>
          <a:p>
            <a:pPr marL="0" indent="0">
              <a:buNone/>
            </a:pPr>
            <a:r>
              <a:rPr lang="en-US" sz="1400" dirty="0">
                <a:solidFill>
                  <a:srgbClr val="52514E"/>
                </a:solidFill>
                <a:latin typeface="Calibri" pitchFamily="34" charset="0"/>
                <a:ea typeface="Calibri" pitchFamily="34" charset="-122"/>
                <a:cs typeface="Calibri" pitchFamily="34" charset="-120"/>
              </a:rPr>
              <a:t>malicious-F1 gap to the random split once both sets are removed (seed 42)</a:t>
            </a:r>
            <a:endParaRPr lang="en-US" sz="1400" dirty="0"/>
          </a:p>
        </p:txBody>
      </p:sp>
      <p:sp>
        <p:nvSpPr>
          <p:cNvPr id="13" name="body text"/>
          <p:cNvSpPr txBox="1"/>
          <p:nvPr/>
        </p:nvSpPr>
        <p:spPr>
          <a:xfrm>
            <a:off x="548640" y="4023360"/>
            <a:ext cx="11094415" cy="2194560"/>
          </a:xfrm>
          <a:prstGeom prst="rect">
            <a:avLst/>
          </a:prstGeom>
          <a:noFill/>
          <a:ln/>
        </p:spPr>
        <p:txBody>
          <a:bodyPr wrap="square" lIns="635" tIns="635" rIns="635" bIns="635" rtlCol="0" anchor="t"/>
          <a:lstStyle/>
          <a:p>
            <a:pPr marL="228600" indent="-2286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On this dataset the chronological split acts mainly as an audit of labels: it moves flows the random split memorises into the test set</a:t>
            </a:r>
            <a:endParaRPr lang="en-US" sz="1600" dirty="0"/>
          </a:p>
          <a:p>
            <a:pPr marL="228600" indent="-2286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Residual effect: recall 0.997 → 0.957, 85% of it in DoS Hulk; its cause was not examined</a:t>
            </a:r>
            <a:endParaRPr lang="en-US" sz="1600" dirty="0"/>
          </a:p>
          <a:p>
            <a:pPr marL="228600" indent="-2286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Deduplication is still required for a correct test population; PortScan shows adjacency can dominate one class</a:t>
            </a:r>
            <a:endParaRPr lang="en-US" sz="1600" dirty="0"/>
          </a:p>
          <a:p>
            <a:pPr marL="228600" indent="-228600">
              <a:spcAft>
                <a:spcPts val="600"/>
              </a:spcAft>
              <a:buSzPct val="100000"/>
              <a:buChar char="•"/>
            </a:pPr>
            <a:r>
              <a:rPr lang="en-US" sz="1600" dirty="0">
                <a:solidFill>
                  <a:schemeClr val="tx1"/>
                </a:solidFill>
                <a:latin typeface="Calibri" pitchFamily="34" charset="0"/>
                <a:ea typeface="Calibri" pitchFamily="34" charset="-122"/>
                <a:cs typeface="Calibri" pitchFamily="34" charset="-120"/>
              </a:rPr>
              <a:t>Transfer failure is robust: 5 seeds, no-dedup control, reverse direction, XGBoost; not a unit artefact</a:t>
            </a:r>
            <a:endParaRPr lang="en-US" sz="16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06</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RESULT ANALYSIS</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Comparison with existing systems</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645920"/>
          <a:ext cx="11091672" cy="4352544"/>
        </p:xfrm>
        <a:graphic>
          <a:graphicData uri="http://schemas.openxmlformats.org/drawingml/2006/table">
            <a:tbl>
              <a:tblPr/>
              <a:tblGrid>
                <a:gridCol w="2514600">
                  <a:extLst>
                    <a:ext uri="{9D8B030D-6E8A-4147-A177-3AD203B41FA5}">
                      <a16:colId xmlns:a16="http://schemas.microsoft.com/office/drawing/2014/main" val="20000"/>
                    </a:ext>
                  </a:extLst>
                </a:gridCol>
                <a:gridCol w="224028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1691640">
                  <a:extLst>
                    <a:ext uri="{9D8B030D-6E8A-4147-A177-3AD203B41FA5}">
                      <a16:colId xmlns:a16="http://schemas.microsoft.com/office/drawing/2014/main" val="20003"/>
                    </a:ext>
                  </a:extLst>
                </a:gridCol>
                <a:gridCol w="2496312">
                  <a:extLst>
                    <a:ext uri="{9D8B030D-6E8A-4147-A177-3AD203B41FA5}">
                      <a16:colId xmlns:a16="http://schemas.microsoft.com/office/drawing/2014/main" val="20004"/>
                    </a:ext>
                  </a:extLst>
                </a:gridCol>
              </a:tblGrid>
              <a:tr h="475488">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Aspect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Cantone et al. 2024</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Moczkodan &amp; Ragab 2026</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Review II baseline</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tc>
                  <a:txBody>
                    <a:bodyPr/>
                    <a:lstStyle/>
                    <a:p>
                      <a:pPr marL="0" indent="0">
                        <a:buNone/>
                      </a:pPr>
                      <a:r>
                        <a:rPr lang="en-US" sz="1500" b="1" dirty="0">
                          <a:solidFill>
                            <a:srgbClr val="14213D"/>
                          </a:solidFill>
                          <a:latin typeface="Calibri" pitchFamily="34" charset="0"/>
                          <a:ea typeface="Calibri" pitchFamily="34" charset="-122"/>
                          <a:cs typeface="Calibri" pitchFamily="34" charset="-120"/>
                        </a:rPr>
                        <a:t>This work</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solidFill>
                      <a:srgbClr val="E8EEF7"/>
                    </a:solidFill>
                  </a:tcPr>
                </a:tc>
                <a:extLst>
                  <a:ext uri="{0D108BD9-81ED-4DB2-BD59-A6C34878D82A}">
                    <a16:rowId xmlns:a16="http://schemas.microsoft.com/office/drawing/2014/main" val="10000"/>
                  </a:ext>
                </a:extLst>
              </a:tr>
              <a:tr h="47548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Random-split binary score</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Nearly perfect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F1 0.997</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F1 0.9966 ± 0.0000</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1"/>
                  </a:ext>
                </a:extLst>
              </a:tr>
              <a:tr h="47548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Time-aware evaluation</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FAR × 67 (Transformer)</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F1 0.903, FPR × 44</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2"/>
                  </a:ext>
                </a:extLst>
              </a:tr>
              <a:tr h="47548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Time-split errors inspected</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98.8% on 2 attack sessions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3"/>
                  </a:ext>
                </a:extLst>
              </a:tr>
              <a:tr h="47548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Label conflicts counted</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309 vectors, 82,704 rows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4"/>
                  </a:ext>
                </a:extLst>
              </a:tr>
              <a:tr h="47548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Attribution end to end</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Bot 1.00 → 0.41</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5"/>
                  </a:ext>
                </a:extLst>
              </a:tr>
              <a:tr h="47548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Transfer 2017 → 2018</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F1 0.26–0.39 (all attacks)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F1 0.002</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F1 0.0006 (matched families)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6"/>
                  </a:ext>
                </a:extLst>
              </a:tr>
              <a:tr h="47548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Cause of failure</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Anomalies, attack configs</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Hypothesised</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Units verified; 50/75 Hulk features shift</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7"/>
                  </a:ext>
                </a:extLst>
              </a:tr>
              <a:tr h="475488">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Mitigation tested</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No</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tc>
                  <a:txBody>
                    <a:bodyPr/>
                    <a:lstStyle/>
                    <a:p>
                      <a:pPr marL="0" indent="0">
                        <a:buNone/>
                      </a:pPr>
                      <a:r>
                        <a:rPr lang="en-US" sz="1500" dirty="0">
                          <a:solidFill>
                            <a:srgbClr val="1A1A1A"/>
                          </a:solidFill>
                          <a:latin typeface="Calibri" pitchFamily="34" charset="0"/>
                          <a:ea typeface="Calibri" pitchFamily="34" charset="-122"/>
                          <a:cs typeface="Calibri" pitchFamily="34" charset="-120"/>
                        </a:rPr>
                        <a:t>4 label-free: ≤ 0.5% recovered</a:t>
                      </a:r>
                      <a:endParaRPr lang="en-US" sz="1500" dirty="0">
                        <a:latin typeface="Calibri" charset="0"/>
                        <a:ea typeface="Calibri" charset="0"/>
                        <a:cs typeface="Calibri" charset="0"/>
                      </a:endParaRPr>
                    </a:p>
                  </a:txBody>
                  <a:tcPr marL="45720" marR="45720" anchor="ctr">
                    <a:lnL w="6350" cap="flat" cmpd="sng" algn="ctr">
                      <a:solidFill>
                        <a:srgbClr val="C3C2B7"/>
                      </a:solidFill>
                      <a:prstDash val="solid"/>
                      <a:round/>
                      <a:headEnd type="none" w="med" len="med"/>
                      <a:tailEnd type="none" w="med" len="med"/>
                    </a:lnL>
                    <a:lnR w="6350" cap="flat" cmpd="sng" algn="ctr">
                      <a:solidFill>
                        <a:srgbClr val="C3C2B7"/>
                      </a:solidFill>
                      <a:prstDash val="solid"/>
                      <a:round/>
                      <a:headEnd type="none" w="med" len="med"/>
                      <a:tailEnd type="none" w="med" len="med"/>
                    </a:lnR>
                    <a:lnT w="6350" cap="flat" cmpd="sng" algn="ctr">
                      <a:solidFill>
                        <a:srgbClr val="C3C2B7"/>
                      </a:solidFill>
                      <a:prstDash val="solid"/>
                      <a:round/>
                      <a:headEnd type="none" w="med" len="med"/>
                      <a:tailEnd type="none" w="med" len="med"/>
                    </a:lnT>
                    <a:lnB w="6350" cap="flat" cmpd="sng" algn="ctr">
                      <a:solidFill>
                        <a:srgbClr val="C3C2B7"/>
                      </a:solidFill>
                      <a:prstDash val="solid"/>
                      <a:round/>
                      <a:headEnd type="none" w="med" len="med"/>
                      <a:tailEnd type="none" w="med" len="med"/>
                    </a:lnB>
                  </a:tcPr>
                </a:tc>
                <a:extLst>
                  <a:ext uri="{0D108BD9-81ED-4DB2-BD59-A6C34878D82A}">
                    <a16:rowId xmlns:a16="http://schemas.microsoft.com/office/drawing/2014/main" val="10008"/>
                  </a:ext>
                </a:extLst>
              </a:tr>
            </a:tbl>
          </a:graphicData>
        </a:graphic>
      </p:graphicFrame>
      <p:sp>
        <p:nvSpPr>
          <p:cNvPr id="6"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07</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CONCLUSION AND FUTURE WORKS</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Conclusions and future work</a:t>
            </a:r>
            <a:endParaRPr lang="en-US" sz="3200" dirty="0"/>
          </a:p>
        </p:txBody>
      </p:sp>
      <p:sp>
        <p:nvSpPr>
          <p:cNvPr id="7" name="card Conclusions"/>
          <p:cNvSpPr/>
          <p:nvPr/>
        </p:nvSpPr>
        <p:spPr>
          <a:xfrm>
            <a:off x="548640" y="1691640"/>
            <a:ext cx="5806440" cy="4434840"/>
          </a:xfrm>
          <a:prstGeom prst="roundRect">
            <a:avLst>
              <a:gd name="adj" fmla="val 1649"/>
            </a:avLst>
          </a:prstGeom>
          <a:solidFill>
            <a:srgbClr val="F3F5F9"/>
          </a:solidFill>
          <a:ln w="12700">
            <a:solidFill>
              <a:srgbClr val="F3F5F9"/>
            </a:solidFill>
            <a:prstDash val="solid"/>
          </a:ln>
        </p:spPr>
        <p:txBody>
          <a:bodyPr/>
          <a:lstStyle/>
          <a:p>
            <a:endParaRPr lang="en-IN"/>
          </a:p>
        </p:txBody>
      </p:sp>
      <p:sp>
        <p:nvSpPr>
          <p:cNvPr id="8" name="card head Conclusions"/>
          <p:cNvSpPr txBox="1"/>
          <p:nvPr/>
        </p:nvSpPr>
        <p:spPr>
          <a:xfrm>
            <a:off x="731520" y="1828800"/>
            <a:ext cx="5440680"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Conclusions</a:t>
            </a:r>
            <a:endParaRPr lang="en-US" sz="1800" dirty="0"/>
          </a:p>
        </p:txBody>
      </p:sp>
      <p:sp>
        <p:nvSpPr>
          <p:cNvPr id="9" name="card body Conclusions"/>
          <p:cNvSpPr txBox="1"/>
          <p:nvPr/>
        </p:nvSpPr>
        <p:spPr>
          <a:xfrm>
            <a:off x="731520" y="2286000"/>
            <a:ext cx="5440680" cy="3703320"/>
          </a:xfrm>
          <a:prstGeom prst="rect">
            <a:avLst/>
          </a:prstGeom>
          <a:noFill/>
          <a:ln/>
        </p:spPr>
        <p:txBody>
          <a:bodyPr wrap="square" lIns="0" tIns="0" rIns="0" bIns="0" rtlCol="0" anchor="t"/>
          <a:lstStyle/>
          <a:p>
            <a:pPr marL="0" indent="0">
              <a:buNone/>
            </a:pPr>
            <a:r>
              <a:rPr lang="en-US" sz="1700" dirty="0">
                <a:solidFill>
                  <a:schemeClr val="tx1"/>
                </a:solidFill>
                <a:latin typeface="Calibri" pitchFamily="34" charset="0"/>
                <a:ea typeface="Calibri" pitchFamily="34" charset="-122"/>
                <a:cs typeface="Calibri" pitchFamily="34" charset="-120"/>
              </a:rPr>
              <a:t>• Duplicates and correlated records explain at most 0.004 F1</a:t>
            </a:r>
            <a:endParaRPr lang="en-US" sz="1700" dirty="0"/>
          </a:p>
          <a:p>
            <a:pPr marL="0" indent="0">
              <a:buNone/>
            </a:pPr>
            <a:r>
              <a:rPr lang="en-US" sz="1700" dirty="0">
                <a:solidFill>
                  <a:schemeClr val="tx1"/>
                </a:solidFill>
                <a:latin typeface="Calibri" pitchFamily="34" charset="0"/>
                <a:ea typeface="Calibri" pitchFamily="34" charset="-122"/>
                <a:cs typeface="Calibri" pitchFamily="34" charset="-120"/>
              </a:rPr>
              <a:t>• The chronological gap is mainly a label artefact: 98.8% of its false positives are benign-labelled attack-session flows; without them FPR is equal and only a recall loss remains</a:t>
            </a:r>
            <a:endParaRPr lang="en-US" sz="1700" dirty="0"/>
          </a:p>
          <a:p>
            <a:pPr marL="0" indent="0">
              <a:buNone/>
            </a:pPr>
            <a:r>
              <a:rPr lang="en-US" sz="1700" dirty="0">
                <a:solidFill>
                  <a:schemeClr val="tx1"/>
                </a:solidFill>
                <a:latin typeface="Calibri" pitchFamily="34" charset="0"/>
                <a:ea typeface="Calibri" pitchFamily="34" charset="-122"/>
                <a:cs typeface="Calibri" pitchFamily="34" charset="-120"/>
              </a:rPr>
              <a:t>• A time-aware split needs an audit of its errors before its drop is called drift</a:t>
            </a:r>
            <a:endParaRPr lang="en-US" sz="1700" dirty="0"/>
          </a:p>
          <a:p>
            <a:pPr marL="0" indent="0">
              <a:buNone/>
            </a:pPr>
            <a:r>
              <a:rPr lang="en-US" sz="1700" dirty="0">
                <a:solidFill>
                  <a:schemeClr val="tx1"/>
                </a:solidFill>
                <a:latin typeface="Calibri" pitchFamily="34" charset="0"/>
                <a:ea typeface="Calibri" pitchFamily="34" charset="-122"/>
                <a:cs typeface="Calibri" pitchFamily="34" charset="-120"/>
              </a:rPr>
              <a:t>• Attribution must be reported end to end</a:t>
            </a:r>
            <a:endParaRPr lang="en-US" sz="1700" dirty="0"/>
          </a:p>
          <a:p>
            <a:pPr marL="0" indent="0">
              <a:buNone/>
            </a:pPr>
            <a:r>
              <a:rPr lang="en-US" sz="1700" dirty="0">
                <a:solidFill>
                  <a:schemeClr val="tx1"/>
                </a:solidFill>
                <a:latin typeface="Calibri" pitchFamily="34" charset="0"/>
                <a:ea typeface="Calibri" pitchFamily="34" charset="-122"/>
                <a:cs typeface="Calibri" pitchFamily="34" charset="-120"/>
              </a:rPr>
              <a:t>• 2017 → 2018 transfer fails; units hold, diagnostics point to changed attack traffic; label-free normalisation does not repair it</a:t>
            </a:r>
            <a:endParaRPr lang="en-US" sz="1700" dirty="0"/>
          </a:p>
        </p:txBody>
      </p:sp>
      <p:sp>
        <p:nvSpPr>
          <p:cNvPr id="10" name="card Future work"/>
          <p:cNvSpPr/>
          <p:nvPr/>
        </p:nvSpPr>
        <p:spPr>
          <a:xfrm>
            <a:off x="6537960" y="1691640"/>
            <a:ext cx="5102352" cy="4434840"/>
          </a:xfrm>
          <a:prstGeom prst="roundRect">
            <a:avLst>
              <a:gd name="adj" fmla="val 1649"/>
            </a:avLst>
          </a:prstGeom>
          <a:solidFill>
            <a:srgbClr val="F3F5F9"/>
          </a:solidFill>
          <a:ln w="12700">
            <a:solidFill>
              <a:srgbClr val="F3F5F9"/>
            </a:solidFill>
            <a:prstDash val="solid"/>
          </a:ln>
        </p:spPr>
        <p:txBody>
          <a:bodyPr/>
          <a:lstStyle/>
          <a:p>
            <a:endParaRPr lang="en-IN"/>
          </a:p>
        </p:txBody>
      </p:sp>
      <p:sp>
        <p:nvSpPr>
          <p:cNvPr id="11" name="card head Future work"/>
          <p:cNvSpPr txBox="1"/>
          <p:nvPr/>
        </p:nvSpPr>
        <p:spPr>
          <a:xfrm>
            <a:off x="6720840" y="1828800"/>
            <a:ext cx="4736592" cy="411480"/>
          </a:xfrm>
          <a:prstGeom prst="rect">
            <a:avLst/>
          </a:prstGeom>
          <a:noFill/>
          <a:ln/>
        </p:spPr>
        <p:txBody>
          <a:bodyPr wrap="square" lIns="0" tIns="0" rIns="0" bIns="0" rtlCol="0" anchor="t"/>
          <a:lstStyle/>
          <a:p>
            <a:pPr marL="0" indent="0">
              <a:buNone/>
            </a:pPr>
            <a:r>
              <a:rPr lang="en-US" sz="1800" b="1" dirty="0">
                <a:solidFill>
                  <a:schemeClr val="tx2"/>
                </a:solidFill>
                <a:latin typeface="Cambria" pitchFamily="34" charset="0"/>
                <a:ea typeface="Cambria" pitchFamily="34" charset="-122"/>
                <a:cs typeface="Cambria" pitchFamily="34" charset="-120"/>
              </a:rPr>
              <a:t>Future work</a:t>
            </a:r>
            <a:endParaRPr lang="en-US" sz="1800" dirty="0"/>
          </a:p>
        </p:txBody>
      </p:sp>
      <p:sp>
        <p:nvSpPr>
          <p:cNvPr id="12" name="card body Future work"/>
          <p:cNvSpPr txBox="1"/>
          <p:nvPr/>
        </p:nvSpPr>
        <p:spPr>
          <a:xfrm>
            <a:off x="6720840" y="2286000"/>
            <a:ext cx="4736592" cy="3703320"/>
          </a:xfrm>
          <a:prstGeom prst="rect">
            <a:avLst/>
          </a:prstGeom>
          <a:noFill/>
          <a:ln/>
        </p:spPr>
        <p:txBody>
          <a:bodyPr wrap="square" lIns="0" tIns="0" rIns="0" bIns="0" rtlCol="0" anchor="t"/>
          <a:lstStyle/>
          <a:p>
            <a:pPr marL="0" indent="0">
              <a:buNone/>
            </a:pPr>
            <a:r>
              <a:rPr lang="en-US" sz="1700" dirty="0">
                <a:solidFill>
                  <a:schemeClr val="tx1"/>
                </a:solidFill>
                <a:latin typeface="Calibri" pitchFamily="34" charset="0"/>
                <a:ea typeface="Calibri" pitchFamily="34" charset="-122"/>
                <a:cs typeface="Calibri" pitchFamily="34" charset="-120"/>
              </a:rPr>
              <a:t>• Relabel the flows on the two endpoint sets and repeat the protocol comparison</a:t>
            </a:r>
            <a:endParaRPr lang="en-US" sz="1700" dirty="0"/>
          </a:p>
          <a:p>
            <a:pPr marL="0" indent="0">
              <a:buNone/>
            </a:pPr>
            <a:r>
              <a:rPr lang="en-US" sz="1700" dirty="0">
                <a:solidFill>
                  <a:schemeClr val="tx1"/>
                </a:solidFill>
                <a:latin typeface="Calibri" pitchFamily="34" charset="0"/>
                <a:ea typeface="Calibri" pitchFamily="34" charset="-122"/>
                <a:cs typeface="Calibri" pitchFamily="34" charset="-120"/>
              </a:rPr>
              <a:t>• Extend transfer to all CSE-CIC-IDS2018 attack days</a:t>
            </a:r>
            <a:endParaRPr lang="en-US" sz="1700" dirty="0"/>
          </a:p>
          <a:p>
            <a:pPr marL="0" indent="0">
              <a:buNone/>
            </a:pPr>
            <a:r>
              <a:rPr lang="en-US" sz="1700" dirty="0">
                <a:solidFill>
                  <a:schemeClr val="tx1"/>
                </a:solidFill>
                <a:latin typeface="Calibri" pitchFamily="34" charset="0"/>
                <a:ea typeface="Calibri" pitchFamily="34" charset="-122"/>
                <a:cs typeface="Calibri" pitchFamily="34" charset="-120"/>
              </a:rPr>
              <a:t>• Class-aware adaptation with a small labelled target sample</a:t>
            </a:r>
            <a:endParaRPr lang="en-US" sz="1700" dirty="0"/>
          </a:p>
          <a:p>
            <a:pPr marL="0" indent="0">
              <a:buNone/>
            </a:pPr>
            <a:r>
              <a:rPr lang="en-US" sz="1700" dirty="0">
                <a:solidFill>
                  <a:schemeClr val="tx1"/>
                </a:solidFill>
                <a:latin typeface="Calibri" pitchFamily="34" charset="0"/>
                <a:ea typeface="Calibri" pitchFamily="34" charset="-122"/>
                <a:cs typeface="Calibri" pitchFamily="34" charset="-120"/>
              </a:rPr>
              <a:t>• Same protocols on TLS-metadata captures and sequence models</a:t>
            </a:r>
            <a:endParaRPr lang="en-US" sz="1700" dirty="0"/>
          </a:p>
          <a:p>
            <a:pPr marL="0" indent="0">
              <a:buNone/>
            </a:pPr>
            <a:r>
              <a:rPr lang="en-US" sz="1700" dirty="0">
                <a:solidFill>
                  <a:schemeClr val="tx1"/>
                </a:solidFill>
                <a:latin typeface="Calibri" pitchFamily="34" charset="0"/>
                <a:ea typeface="Calibri" pitchFamily="34" charset="-122"/>
                <a:cs typeface="Calibri" pitchFamily="34" charset="-120"/>
              </a:rPr>
              <a:t>• More seeds for grouped protocols and the policy study</a:t>
            </a:r>
            <a:endParaRPr lang="en-US" sz="17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chapter number"/>
          <p:cNvSpPr/>
          <p:nvPr/>
        </p:nvSpPr>
        <p:spPr>
          <a:xfrm>
            <a:off x="548640" y="292608"/>
            <a:ext cx="502920" cy="274320"/>
          </a:xfrm>
          <a:prstGeom prst="roundRect">
            <a:avLst>
              <a:gd name="adj" fmla="val 26667"/>
            </a:avLst>
          </a:prstGeom>
          <a:solidFill>
            <a:schemeClr val="accent2"/>
          </a:solidFill>
          <a:ln w="12700">
            <a:solidFill>
              <a:schemeClr val="accent2"/>
            </a:solidFill>
            <a:prstDash val="solid"/>
          </a:ln>
        </p:spPr>
        <p:txBody>
          <a:bodyPr/>
          <a:lstStyle/>
          <a:p>
            <a:endParaRPr lang="en-IN"/>
          </a:p>
        </p:txBody>
      </p:sp>
      <p:sp>
        <p:nvSpPr>
          <p:cNvPr id="3" name="chapter number text"/>
          <p:cNvSpPr txBox="1"/>
          <p:nvPr/>
        </p:nvSpPr>
        <p:spPr>
          <a:xfrm>
            <a:off x="548640" y="292608"/>
            <a:ext cx="502920" cy="274320"/>
          </a:xfrm>
          <a:prstGeom prst="rect">
            <a:avLst/>
          </a:prstGeom>
          <a:noFill/>
          <a:ln/>
        </p:spPr>
        <p:txBody>
          <a:bodyPr wrap="square" lIns="0" tIns="0" rIns="0" bIns="0" rtlCol="0" anchor="ctr"/>
          <a:lstStyle/>
          <a:p>
            <a:pPr marL="0" indent="0" algn="ctr">
              <a:buNone/>
            </a:pPr>
            <a:r>
              <a:rPr lang="en-US" sz="1200" b="1" dirty="0">
                <a:solidFill>
                  <a:schemeClr val="bg1"/>
                </a:solidFill>
                <a:latin typeface="Calibri" pitchFamily="34" charset="0"/>
                <a:ea typeface="Calibri" pitchFamily="34" charset="-122"/>
                <a:cs typeface="Calibri" pitchFamily="34" charset="-120"/>
              </a:rPr>
              <a:t>08</a:t>
            </a:r>
            <a:endParaRPr lang="en-US" sz="1200" dirty="0"/>
          </a:p>
        </p:txBody>
      </p:sp>
      <p:sp>
        <p:nvSpPr>
          <p:cNvPr id="4" name="chapter label"/>
          <p:cNvSpPr txBox="1"/>
          <p:nvPr/>
        </p:nvSpPr>
        <p:spPr>
          <a:xfrm>
            <a:off x="1188720" y="292608"/>
            <a:ext cx="7315200" cy="274320"/>
          </a:xfrm>
          <a:prstGeom prst="rect">
            <a:avLst/>
          </a:prstGeom>
          <a:noFill/>
          <a:ln/>
        </p:spPr>
        <p:txBody>
          <a:bodyPr wrap="square" lIns="0" tIns="0" rIns="0" bIns="0" rtlCol="0" anchor="ctr"/>
          <a:lstStyle/>
          <a:p>
            <a:pPr marL="0" indent="0">
              <a:buNone/>
            </a:pPr>
            <a:r>
              <a:rPr lang="en-US" sz="1200" b="1" kern="0" spc="200" dirty="0">
                <a:solidFill>
                  <a:schemeClr val="accent2"/>
                </a:solidFill>
                <a:latin typeface="Calibri" pitchFamily="34" charset="0"/>
                <a:ea typeface="Calibri" pitchFamily="34" charset="-122"/>
                <a:cs typeface="Calibri" pitchFamily="34" charset="-120"/>
              </a:rPr>
              <a:t>REFERENCES</a:t>
            </a:r>
            <a:endParaRPr lang="en-US" sz="1200" dirty="0"/>
          </a:p>
        </p:txBody>
      </p:sp>
      <p:sp>
        <p:nvSpPr>
          <p:cNvPr id="5" name="Text 0"/>
          <p:cNvSpPr>
            <a:spLocks noGrp="1"/>
          </p:cNvSpPr>
          <p:nvPr>
            <p:ph type="title" idx="100" hasCustomPrompt="1"/>
          </p:nvPr>
        </p:nvSpPr>
        <p:spPr>
          <a:xfrm>
            <a:off x="548640" y="658368"/>
            <a:ext cx="11094415" cy="777240"/>
          </a:xfrm>
          <a:prstGeom prst="rect">
            <a:avLst/>
          </a:prstGeom>
          <a:noFill/>
          <a:ln/>
        </p:spPr>
        <p:txBody>
          <a:bodyPr wrap="square" lIns="0" tIns="0" rIns="0" bIns="0" rtlCol="0" anchor="t"/>
          <a:lstStyle/>
          <a:p>
            <a:pPr marL="0" indent="0" algn="l">
              <a:buNone/>
            </a:pPr>
            <a:r>
              <a:rPr lang="en-US" sz="3200" b="1" dirty="0">
                <a:solidFill>
                  <a:schemeClr val="tx2"/>
                </a:solidFill>
                <a:latin typeface="Cambria" pitchFamily="34" charset="0"/>
                <a:ea typeface="Cambria" pitchFamily="34" charset="-122"/>
                <a:cs typeface="Cambria" pitchFamily="34" charset="-120"/>
              </a:rPr>
              <a:t>Key references</a:t>
            </a:r>
            <a:endParaRPr lang="en-US" sz="3200" dirty="0"/>
          </a:p>
        </p:txBody>
      </p:sp>
      <p:sp>
        <p:nvSpPr>
          <p:cNvPr id="7" name="references"/>
          <p:cNvSpPr txBox="1"/>
          <p:nvPr/>
        </p:nvSpPr>
        <p:spPr>
          <a:xfrm>
            <a:off x="548640" y="1600200"/>
            <a:ext cx="11094415" cy="4663440"/>
          </a:xfrm>
          <a:prstGeom prst="rect">
            <a:avLst/>
          </a:prstGeom>
          <a:noFill/>
          <a:ln/>
        </p:spPr>
        <p:txBody>
          <a:bodyPr wrap="square" lIns="0" tIns="0" rIns="0" bIns="0" rtlCol="0" anchor="t"/>
          <a:lstStyle/>
          <a:p>
            <a:pPr marL="0" indent="0">
              <a:spcAft>
                <a:spcPts val="600"/>
              </a:spcAft>
              <a:buNone/>
            </a:pPr>
            <a:r>
              <a:rPr lang="en-US" sz="1300" dirty="0">
                <a:solidFill>
                  <a:schemeClr val="tx1"/>
                </a:solidFill>
                <a:latin typeface="Calibri" pitchFamily="34" charset="0"/>
                <a:ea typeface="Calibri" pitchFamily="34" charset="-122"/>
                <a:cs typeface="Calibri" pitchFamily="34" charset="-120"/>
              </a:rPr>
              <a:t>[1] I. Sharafaldin, A. H. Lashkari, A. A. Ghorbani, "Toward generating a new intrusion detection dataset and intrusion traffic characterization," ICISSP, 2018.</a:t>
            </a:r>
            <a:endParaRPr lang="en-US" sz="1300" dirty="0"/>
          </a:p>
          <a:p>
            <a:pPr marL="0" indent="0">
              <a:spcAft>
                <a:spcPts val="600"/>
              </a:spcAft>
              <a:buNone/>
            </a:pPr>
            <a:r>
              <a:rPr lang="en-US" sz="1300" dirty="0">
                <a:solidFill>
                  <a:schemeClr val="tx1"/>
                </a:solidFill>
                <a:latin typeface="Calibri" pitchFamily="34" charset="0"/>
                <a:ea typeface="Calibri" pitchFamily="34" charset="-122"/>
                <a:cs typeface="Calibri" pitchFamily="34" charset="-120"/>
              </a:rPr>
              <a:t>[2] G. Engelen, V. Rimmer, W. Joosen, "Troubleshooting an intrusion detection dataset: the CICIDS2017 case study," IEEE SPW, 2021.</a:t>
            </a:r>
            <a:endParaRPr lang="en-US" sz="1300" dirty="0"/>
          </a:p>
          <a:p>
            <a:pPr marL="0" indent="0">
              <a:spcAft>
                <a:spcPts val="600"/>
              </a:spcAft>
              <a:buNone/>
            </a:pPr>
            <a:r>
              <a:rPr lang="en-US" sz="1300" dirty="0">
                <a:solidFill>
                  <a:schemeClr val="tx1"/>
                </a:solidFill>
                <a:latin typeface="Calibri" pitchFamily="34" charset="0"/>
                <a:ea typeface="Calibri" pitchFamily="34" charset="-122"/>
                <a:cs typeface="Calibri" pitchFamily="34" charset="-120"/>
              </a:rPr>
              <a:t>[3] L. Liu, G. Engelen, T. Lynar, D. Essam, W. Joosen, "Error prevalence in NIDS datasets: CIC-IDS-2017 and CSE-CIC-IDS-2018," IEEE CNS, 2022.</a:t>
            </a:r>
            <a:endParaRPr lang="en-US" sz="1300" dirty="0"/>
          </a:p>
          <a:p>
            <a:pPr marL="0" indent="0">
              <a:spcAft>
                <a:spcPts val="600"/>
              </a:spcAft>
              <a:buNone/>
            </a:pPr>
            <a:r>
              <a:rPr lang="en-US" sz="1300" dirty="0">
                <a:solidFill>
                  <a:schemeClr val="tx1"/>
                </a:solidFill>
                <a:latin typeface="Calibri" pitchFamily="34" charset="0"/>
                <a:ea typeface="Calibri" pitchFamily="34" charset="-122"/>
                <a:cs typeface="Calibri" pitchFamily="34" charset="-120"/>
              </a:rPr>
              <a:t>[4] M. Lanvin et al., "Errors in the CICIDS2017 dataset and the significant differences in detection performances it makes," CRiSIS 2022, Springer, 2023.</a:t>
            </a:r>
            <a:endParaRPr lang="en-US" sz="1300" dirty="0"/>
          </a:p>
          <a:p>
            <a:pPr marL="0" indent="0">
              <a:spcAft>
                <a:spcPts val="600"/>
              </a:spcAft>
              <a:buNone/>
            </a:pPr>
            <a:r>
              <a:rPr lang="en-US" sz="1300" dirty="0">
                <a:solidFill>
                  <a:schemeClr val="tx1"/>
                </a:solidFill>
                <a:latin typeface="Calibri" pitchFamily="34" charset="0"/>
                <a:ea typeface="Calibri" pitchFamily="34" charset="-122"/>
                <a:cs typeface="Calibri" pitchFamily="34" charset="-120"/>
              </a:rPr>
              <a:t>[5] A. Pekar, R. Jozsa, "Evaluating ML-based anomaly detection across datasets of varied integrity," Computer Networks, 2024.</a:t>
            </a:r>
            <a:endParaRPr lang="en-US" sz="1300" dirty="0"/>
          </a:p>
          <a:p>
            <a:pPr marL="0" indent="0">
              <a:spcAft>
                <a:spcPts val="600"/>
              </a:spcAft>
              <a:buNone/>
            </a:pPr>
            <a:r>
              <a:rPr lang="en-US" sz="1300" dirty="0">
                <a:solidFill>
                  <a:schemeClr val="tx1"/>
                </a:solidFill>
                <a:latin typeface="Calibri" pitchFamily="34" charset="0"/>
                <a:ea typeface="Calibri" pitchFamily="34" charset="-122"/>
                <a:cs typeface="Calibri" pitchFamily="34" charset="-120"/>
              </a:rPr>
              <a:t>[6] M. Cantone, C. Marrocco, A. Bria, "On the cross-dataset generalization of machine learning for network intrusion detection," IEEE Access, vol. 12, 2024.</a:t>
            </a:r>
            <a:endParaRPr lang="en-US" sz="1300" dirty="0"/>
          </a:p>
          <a:p>
            <a:pPr marL="0" indent="0">
              <a:spcAft>
                <a:spcPts val="600"/>
              </a:spcAft>
              <a:buNone/>
            </a:pPr>
            <a:r>
              <a:rPr lang="en-US" sz="1300" dirty="0">
                <a:solidFill>
                  <a:schemeClr val="tx1"/>
                </a:solidFill>
                <a:latin typeface="Calibri" pitchFamily="34" charset="0"/>
                <a:ea typeface="Calibri" pitchFamily="34" charset="-122"/>
                <a:cs typeface="Calibri" pitchFamily="34" charset="-120"/>
              </a:rPr>
              <a:t>[7] Z. Moczkodan, H. Ragab, "Do transformers actually help intrusion detection? A temporal sequence evaluation on CIC-IDS2017," arXiv:2606.11098, 2026.</a:t>
            </a:r>
            <a:endParaRPr lang="en-US" sz="1300" dirty="0"/>
          </a:p>
          <a:p>
            <a:pPr marL="0" indent="0">
              <a:spcAft>
                <a:spcPts val="600"/>
              </a:spcAft>
              <a:buNone/>
            </a:pPr>
            <a:r>
              <a:rPr lang="en-US" sz="1300" dirty="0">
                <a:solidFill>
                  <a:schemeClr val="tx1"/>
                </a:solidFill>
                <a:latin typeface="Calibri" pitchFamily="34" charset="0"/>
                <a:ea typeface="Calibri" pitchFamily="34" charset="-122"/>
                <a:cs typeface="Calibri" pitchFamily="34" charset="-120"/>
              </a:rPr>
              <a:t>[8] D. Arp et al., "Dos and don'ts of machine learning in computer security," USENIX Security, 2022.</a:t>
            </a:r>
            <a:endParaRPr lang="en-US" sz="1300" dirty="0"/>
          </a:p>
          <a:p>
            <a:pPr marL="0" indent="0">
              <a:spcAft>
                <a:spcPts val="600"/>
              </a:spcAft>
              <a:buNone/>
            </a:pPr>
            <a:r>
              <a:rPr lang="en-US" sz="1300" dirty="0">
                <a:solidFill>
                  <a:schemeClr val="tx1"/>
                </a:solidFill>
                <a:latin typeface="Calibri" pitchFamily="34" charset="0"/>
                <a:ea typeface="Calibri" pitchFamily="34" charset="-122"/>
                <a:cs typeface="Calibri" pitchFamily="34" charset="-120"/>
              </a:rPr>
              <a:t>[9] F. Pendlebury et al., "TESSERACT: Eliminating experimental bias in malware classification across space and time," USENIX Security, 2019.</a:t>
            </a:r>
            <a:endParaRPr lang="en-US" sz="1300" dirty="0"/>
          </a:p>
          <a:p>
            <a:pPr marL="0" indent="0">
              <a:spcAft>
                <a:spcPts val="600"/>
              </a:spcAft>
              <a:buNone/>
            </a:pPr>
            <a:r>
              <a:rPr lang="en-US" sz="1300" dirty="0">
                <a:solidFill>
                  <a:schemeClr val="tx1"/>
                </a:solidFill>
                <a:latin typeface="Calibri" pitchFamily="34" charset="0"/>
                <a:ea typeface="Calibri" pitchFamily="34" charset="-122"/>
                <a:cs typeface="Calibri" pitchFamily="34" charset="-120"/>
              </a:rPr>
              <a:t>[10] B. Anderson, D. McGrew, "Identifying encrypted malware traffic with contextual flow data," ACM AISec, 2016.</a:t>
            </a:r>
            <a:endParaRPr lang="en-US" sz="1300" dirty="0"/>
          </a:p>
          <a:p>
            <a:pPr marL="0" indent="0">
              <a:spcAft>
                <a:spcPts val="600"/>
              </a:spcAft>
              <a:buNone/>
            </a:pPr>
            <a:r>
              <a:rPr lang="en-US" sz="1300" dirty="0">
                <a:solidFill>
                  <a:schemeClr val="tx1"/>
                </a:solidFill>
                <a:latin typeface="Calibri" pitchFamily="34" charset="0"/>
                <a:ea typeface="Calibri" pitchFamily="34" charset="-122"/>
                <a:cs typeface="Calibri" pitchFamily="34" charset="-120"/>
              </a:rPr>
              <a:t>[11] L. Breiman, "Random forests," Machine Learning, 45(1), 2001;  T. Chen, C. Guestrin, "XGBoost," ACM SIGKDD, 2016.</a:t>
            </a:r>
            <a:endParaRPr lang="en-US" sz="1300" dirty="0"/>
          </a:p>
        </p:txBody>
      </p:sp>
      <p:sp>
        <p:nvSpPr>
          <p:cNvPr id="25" name="Slide Number Placeholder 0"/>
          <p:cNvSpPr>
            <a:spLocks noGrp="1"/>
          </p:cNvSpPr>
          <p:nvPr>
            <p:ph type="sldNum" sz="quarter" idx="4294967295"/>
          </p:nvPr>
        </p:nvSpPr>
        <p:spPr>
          <a:xfrm>
            <a:off x="11094415" y="644652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898781"/>
                </a:solidFill>
                <a:latin typeface="Calibri"/>
                <a:ea typeface="Calibri"/>
                <a:cs typeface="Calibri"/>
              </a:defRPr>
            </a:lvl1pPr>
          </a:lstStyle>
          <a:p>
            <a:pPr algn="r"/>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1828800"/>
            <a:ext cx="11094415" cy="1737360"/>
          </a:xfrm>
          <a:prstGeom prst="rect">
            <a:avLst/>
          </a:prstGeom>
          <a:noFill/>
          <a:ln/>
        </p:spPr>
        <p:txBody>
          <a:bodyPr wrap="square" rtlCol="0" anchor="b"/>
          <a:lstStyle/>
          <a:p>
            <a:pPr marL="0" indent="0" algn="l">
              <a:buNone/>
            </a:pPr>
            <a:r>
              <a:rPr lang="en-US" sz="4000" b="1" dirty="0">
                <a:solidFill>
                  <a:schemeClr val="bg1"/>
                </a:solidFill>
                <a:latin typeface="Cambria" pitchFamily="34" charset="0"/>
                <a:ea typeface="Cambria" pitchFamily="34" charset="-122"/>
                <a:cs typeface="Cambria" pitchFamily="34" charset="-120"/>
              </a:rPr>
              <a:t>Thank you</a:t>
            </a:r>
            <a:endParaRPr lang="en-US" sz="4000" dirty="0"/>
          </a:p>
        </p:txBody>
      </p:sp>
      <p:sp>
        <p:nvSpPr>
          <p:cNvPr id="3" name="Text 0"/>
          <p:cNvSpPr>
            <a:spLocks noGrp="1"/>
          </p:cNvSpPr>
          <p:nvPr>
            <p:ph type="body" idx="101" hasCustomPrompt="1"/>
          </p:nvPr>
        </p:nvSpPr>
        <p:spPr>
          <a:xfrm>
            <a:off x="548640" y="3749040"/>
            <a:ext cx="11094415" cy="2377440"/>
          </a:xfrm>
          <a:prstGeom prst="rect">
            <a:avLst/>
          </a:prstGeom>
          <a:noFill/>
          <a:ln/>
        </p:spPr>
        <p:txBody>
          <a:bodyPr wrap="square" rtlCol="0" anchor="t"/>
          <a:lstStyle/>
          <a:p>
            <a:pPr marL="0" indent="0">
              <a:buNone/>
            </a:pPr>
            <a:r>
              <a:rPr lang="en-US" sz="1800" dirty="0">
                <a:solidFill>
                  <a:schemeClr val="bg2"/>
                </a:solidFill>
                <a:latin typeface="Calibri" pitchFamily="34" charset="0"/>
                <a:ea typeface="Calibri" pitchFamily="34" charset="-122"/>
                <a:cs typeface="Calibri" pitchFamily="34" charset="-120"/>
              </a:rPr>
              <a:t>Questions and discussion</a:t>
            </a:r>
            <a:endParaRPr lang="en-US" sz="1800" dirty="0"/>
          </a:p>
          <a:p>
            <a:pPr marL="0" indent="0">
              <a:buNone/>
            </a:pPr>
            <a:r>
              <a:rPr lang="en-US" sz="1000" dirty="0">
                <a:solidFill>
                  <a:schemeClr val="bg2"/>
                </a:solidFill>
                <a:latin typeface="Calibri" pitchFamily="34" charset="0"/>
                <a:ea typeface="Calibri" pitchFamily="34" charset="-122"/>
                <a:cs typeface="Calibri" pitchFamily="34" charset="-120"/>
              </a:rPr>
              <a:t> </a:t>
            </a:r>
            <a:endParaRPr lang="en-US" sz="1800" dirty="0"/>
          </a:p>
          <a:p>
            <a:r>
              <a:rPr lang="en-US" dirty="0"/>
              <a:t>Anshveer </a:t>
            </a:r>
            <a:r>
              <a:rPr lang="en-US"/>
              <a:t>Singh </a:t>
            </a:r>
            <a:r>
              <a:rPr lang="en-US" sz="1800">
                <a:solidFill>
                  <a:schemeClr val="bg2"/>
                </a:solidFill>
                <a:latin typeface="Calibri" pitchFamily="34" charset="0"/>
                <a:ea typeface="Calibri" pitchFamily="34" charset="-122"/>
                <a:cs typeface="Calibri" pitchFamily="34" charset="-120"/>
              </a:rPr>
              <a:t>· </a:t>
            </a:r>
            <a:r>
              <a:rPr lang="en-US"/>
              <a:t>Gaurav Bakshi </a:t>
            </a:r>
            <a:r>
              <a:rPr lang="en-US" sz="1800">
                <a:solidFill>
                  <a:schemeClr val="bg2"/>
                </a:solidFill>
                <a:latin typeface="Calibri" pitchFamily="34" charset="0"/>
                <a:ea typeface="Calibri" pitchFamily="34" charset="-122"/>
                <a:cs typeface="Calibri" pitchFamily="34" charset="-120"/>
              </a:rPr>
              <a:t>· </a:t>
            </a:r>
            <a:r>
              <a:rPr lang="en-US" sz="1800" dirty="0">
                <a:solidFill>
                  <a:schemeClr val="bg2"/>
                </a:solidFill>
                <a:latin typeface="Calibri" pitchFamily="34" charset="0"/>
                <a:ea typeface="Calibri" pitchFamily="34" charset="-122"/>
                <a:cs typeface="Calibri" pitchFamily="34" charset="-120"/>
              </a:rPr>
              <a:t>Dev Acharya Menon   |   Supervisor: Dr Anto S</a:t>
            </a:r>
            <a:endParaRPr lang="en-US" sz="1800" dirty="0"/>
          </a:p>
        </p:txBody>
      </p:sp>
    </p:spTree>
  </p:cSld>
  <p:clrMapOvr>
    <a:masterClrMapping/>
  </p:clrMapOvr>
</p:sld>
</file>

<file path=ppt/theme/theme1.xml><?xml version="1.0" encoding="utf-8"?>
<a:theme xmlns:a="http://schemas.openxmlformats.org/drawingml/2006/main" name="Flow IDS Review">
  <a:themeElements>
    <a:clrScheme name="Flow IDS Review">
      <a:dk1>
        <a:srgbClr val="1A1A1A"/>
      </a:dk1>
      <a:lt1>
        <a:srgbClr val="FFFFFF"/>
      </a:lt1>
      <a:dk2>
        <a:srgbClr val="14213D"/>
      </a:dk2>
      <a:lt2>
        <a:srgbClr val="F3F5F9"/>
      </a:lt2>
      <a:accent1>
        <a:srgbClr val="2A78D6"/>
      </a:accent1>
      <a:accent2>
        <a:srgbClr val="EB6834"/>
      </a:accent2>
      <a:accent3>
        <a:srgbClr val="1BAF7A"/>
      </a:accent3>
      <a:accent4>
        <a:srgbClr val="EDA100"/>
      </a:accent4>
      <a:accent5>
        <a:srgbClr val="4A3AA7"/>
      </a:accent5>
      <a:accent6>
        <a:srgbClr val="E34948"/>
      </a:accent6>
      <a:hlink>
        <a:srgbClr val="2A78D6"/>
      </a:hlink>
      <a:folHlink>
        <a:srgbClr val="4A3AA7"/>
      </a:folHlink>
    </a:clrScheme>
    <a:fontScheme name="Flow IDS Review">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3796</Words>
  <Application>Microsoft Office PowerPoint</Application>
  <PresentationFormat>Widescreen</PresentationFormat>
  <Paragraphs>516</Paragraphs>
  <Slides>27</Slides>
  <Notes>27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27</vt:i4>
      </vt:variant>
    </vt:vector>
  </HeadingPairs>
  <TitlesOfParts>
    <vt:vector size="31" baseType="lpstr">
      <vt:lpstr>Arial</vt:lpstr>
      <vt:lpstr>Calibri</vt:lpstr>
      <vt:lpstr>Cambria</vt:lpstr>
      <vt:lpstr>Flow IDS Review</vt:lpstr>
      <vt:lpstr>Behavioral Classification of Encrypted Malicious Network Traffic Using Flow-Based Metadata</vt:lpstr>
      <vt:lpstr>Outline</vt:lpstr>
      <vt:lpstr>Flow metadata remains observable under encryption</vt:lpstr>
      <vt:lpstr>Scope of the project</vt:lpstr>
      <vt:lpstr>Literature: errors are documented, their effect is not</vt:lpstr>
      <vt:lpstr>Research gap and problem statement</vt:lpstr>
      <vt:lpstr>Objectives and project plan</vt:lpstr>
      <vt:lpstr>Requirements</vt:lpstr>
      <vt:lpstr>Feasibility and system specification</vt:lpstr>
      <vt:lpstr>System architecture</vt:lpstr>
      <vt:lpstr>Algorithm 1: leakage-aware hierarchical evaluation</vt:lpstr>
      <vt:lpstr>Algorithm 2: shift diagnosis and label-free mitigation</vt:lpstr>
      <vt:lpstr>Experimental setup</vt:lpstr>
      <vt:lpstr>Output: only the chronological splits lower the scores</vt:lpstr>
      <vt:lpstr>Output: the drop is benign false positives</vt:lpstr>
      <vt:lpstr>Output: no global cutoff is possible on CICIDS2017</vt:lpstr>
      <vt:lpstr>Output: the false positives are two attack sessions</vt:lpstr>
      <vt:lpstr>Output: duplicates and label conflicts</vt:lpstr>
      <vt:lpstr>Output: attribution must be scored end to end</vt:lpstr>
      <vt:lpstr>Output: zero-shot transfer collapses on matched families</vt:lpstr>
      <vt:lpstr>Output: units agree; DoS-Hulk traffic differs by year</vt:lpstr>
      <vt:lpstr>Output: label-free normalisation does not recover the gap</vt:lpstr>
      <vt:lpstr>Leakage is small; the chronological gap is mostly labels</vt:lpstr>
      <vt:lpstr>Comparison with existing systems</vt:lpstr>
      <vt:lpstr>Conclusions and future work</vt:lpstr>
      <vt:lpstr>Key references</vt:lpstr>
      <vt:lpstr>Thank you</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Behavioral Classification of Encrypted Malicious Network Traffic Using Flow-Based Metadata</dc:title>
  <dc:subject>PptxGenJS Presentation</dc:subject>
  <dc:creator>Gaurav Bakshi, Anshveer Singh, Dev Acharya Menon</dc:creator>
  <cp:lastModifiedBy>Anshveer Singh</cp:lastModifiedBy>
  <cp:revision>4</cp:revision>
  <dcterms:created xsi:type="dcterms:W3CDTF">2026-10-14T18:58:20Z</dcterms:created>
  <dcterms:modified xsi:type="dcterms:W3CDTF">2026-10-14T19:05:35Z</dcterms:modified>
</cp:coreProperties>
</file>